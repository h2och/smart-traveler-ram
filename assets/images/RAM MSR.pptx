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</p:sldIdLst>
  <p:sldSz cx="18288000" cy="10287000"/>
  <p:notesSz cx="6858000" cy="9144000"/>
  <p:embeddedFontLst>
    <p:embeddedFont>
      <p:font typeface="Neue Montreal" charset="1" panose="00000400000000000000"/>
      <p:regular r:id="rId11"/>
    </p:embeddedFont>
    <p:embeddedFont>
      <p:font typeface="Canva Sans Bold" charset="1" panose="020B0803030501040103"/>
      <p:regular r:id="rId12"/>
    </p:embeddedFont>
    <p:embeddedFont>
      <p:font typeface="Agrandir Bold" charset="1" panose="00000800000000000000"/>
      <p:regular r:id="rId13"/>
    </p:embeddedFont>
    <p:embeddedFont>
      <p:font typeface="Canva Sans" charset="1" panose="020B0503030501040103"/>
      <p:regular r:id="rId14"/>
    </p:embeddedFont>
    <p:embeddedFont>
      <p:font typeface="Archivo Black" charset="1" panose="020B0A03020202020B04"/>
      <p:regular r:id="rId15"/>
    </p:embeddedFont>
    <p:embeddedFont>
      <p:font typeface="Helvetica World Bold" charset="1" panose="020B0800040000020004"/>
      <p:regular r:id="rId16"/>
    </p:embeddedFont>
    <p:embeddedFont>
      <p:font typeface="Liberation Sans Bold" charset="1" panose="020B0704020202020204"/>
      <p:regular r:id="rId17"/>
    </p:embeddedFont>
    <p:embeddedFont>
      <p:font typeface="Liberation Sans" charset="1" panose="020B0604020202020204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fonts/font11.fntdata" Type="http://schemas.openxmlformats.org/officeDocument/2006/relationships/font"/><Relationship Id="rId12" Target="fonts/font12.fntdata" Type="http://schemas.openxmlformats.org/officeDocument/2006/relationships/font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6.png" Type="http://schemas.openxmlformats.org/officeDocument/2006/relationships/image"/><Relationship Id="rId4" Target="../media/image7.png" Type="http://schemas.openxmlformats.org/officeDocument/2006/relationships/image"/><Relationship Id="rId5" Target="../media/image8.png" Type="http://schemas.openxmlformats.org/officeDocument/2006/relationships/image"/><Relationship Id="rId6" Target="../media/image9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10.png" Type="http://schemas.openxmlformats.org/officeDocument/2006/relationships/image"/><Relationship Id="rId4" Target="../media/image11.svg" Type="http://schemas.openxmlformats.org/officeDocument/2006/relationships/image"/><Relationship Id="rId5" Target="../media/image12.png" Type="http://schemas.openxmlformats.org/officeDocument/2006/relationships/image"/><Relationship Id="rId6" Target="../media/image13.svg" Type="http://schemas.openxmlformats.org/officeDocument/2006/relationships/image"/><Relationship Id="rId7" Target="../media/image14.png" Type="http://schemas.openxmlformats.org/officeDocument/2006/relationships/image"/><Relationship Id="rId8" Target="../media/image6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3.png" Type="http://schemas.openxmlformats.org/officeDocument/2006/relationships/image"/><Relationship Id="rId11" Target="../media/image24.svg" Type="http://schemas.openxmlformats.org/officeDocument/2006/relationships/image"/><Relationship Id="rId12" Target="../media/image25.png" Type="http://schemas.openxmlformats.org/officeDocument/2006/relationships/image"/><Relationship Id="rId13" Target="../media/image26.svg" Type="http://schemas.openxmlformats.org/officeDocument/2006/relationships/image"/><Relationship Id="rId14" Target="../media/image27.png" Type="http://schemas.openxmlformats.org/officeDocument/2006/relationships/image"/><Relationship Id="rId15" Target="../media/image28.svg" Type="http://schemas.openxmlformats.org/officeDocument/2006/relationships/image"/><Relationship Id="rId16" Target="../media/image29.png" Type="http://schemas.openxmlformats.org/officeDocument/2006/relationships/image"/><Relationship Id="rId17" Target="../media/image30.svg" Type="http://schemas.openxmlformats.org/officeDocument/2006/relationships/image"/><Relationship Id="rId18" Target="../media/image31.png" Type="http://schemas.openxmlformats.org/officeDocument/2006/relationships/image"/><Relationship Id="rId19" Target="../media/image32.svg" Type="http://schemas.openxmlformats.org/officeDocument/2006/relationships/image"/><Relationship Id="rId2" Target="../media/image15.png" Type="http://schemas.openxmlformats.org/officeDocument/2006/relationships/image"/><Relationship Id="rId20" Target="../media/image33.png" Type="http://schemas.openxmlformats.org/officeDocument/2006/relationships/image"/><Relationship Id="rId21" Target="../media/image34.svg" Type="http://schemas.openxmlformats.org/officeDocument/2006/relationships/image"/><Relationship Id="rId22" Target="../media/image35.png" Type="http://schemas.openxmlformats.org/officeDocument/2006/relationships/image"/><Relationship Id="rId23" Target="../media/image36.svg" Type="http://schemas.openxmlformats.org/officeDocument/2006/relationships/image"/><Relationship Id="rId24" Target="../media/image37.png" Type="http://schemas.openxmlformats.org/officeDocument/2006/relationships/image"/><Relationship Id="rId25" Target="../media/image38.svg" Type="http://schemas.openxmlformats.org/officeDocument/2006/relationships/image"/><Relationship Id="rId26" Target="../media/image39.png" Type="http://schemas.openxmlformats.org/officeDocument/2006/relationships/image"/><Relationship Id="rId27" Target="../media/image40.svg" Type="http://schemas.openxmlformats.org/officeDocument/2006/relationships/image"/><Relationship Id="rId28" Target="../media/image41.png" Type="http://schemas.openxmlformats.org/officeDocument/2006/relationships/image"/><Relationship Id="rId29" Target="../media/image42.svg" Type="http://schemas.openxmlformats.org/officeDocument/2006/relationships/image"/><Relationship Id="rId3" Target="../media/image16.svg" Type="http://schemas.openxmlformats.org/officeDocument/2006/relationships/image"/><Relationship Id="rId30" Target="../media/image43.png" Type="http://schemas.openxmlformats.org/officeDocument/2006/relationships/image"/><Relationship Id="rId31" Target="../media/image44.svg" Type="http://schemas.openxmlformats.org/officeDocument/2006/relationships/image"/><Relationship Id="rId32" Target="../media/image45.png" Type="http://schemas.openxmlformats.org/officeDocument/2006/relationships/image"/><Relationship Id="rId33" Target="../media/image46.svg" Type="http://schemas.openxmlformats.org/officeDocument/2006/relationships/image"/><Relationship Id="rId34" Target="../media/image6.png" Type="http://schemas.openxmlformats.org/officeDocument/2006/relationships/image"/><Relationship Id="rId35" Target="../media/image47.png" Type="http://schemas.openxmlformats.org/officeDocument/2006/relationships/image"/><Relationship Id="rId36" Target="../media/image48.png" Type="http://schemas.openxmlformats.org/officeDocument/2006/relationships/image"/><Relationship Id="rId37" Target="../media/image49.svg" Type="http://schemas.openxmlformats.org/officeDocument/2006/relationships/image"/><Relationship Id="rId4" Target="../media/image17.png" Type="http://schemas.openxmlformats.org/officeDocument/2006/relationships/image"/><Relationship Id="rId5" Target="../media/image18.svg" Type="http://schemas.openxmlformats.org/officeDocument/2006/relationships/image"/><Relationship Id="rId6" Target="../media/image19.png" Type="http://schemas.openxmlformats.org/officeDocument/2006/relationships/image"/><Relationship Id="rId7" Target="../media/image20.svg" Type="http://schemas.openxmlformats.org/officeDocument/2006/relationships/image"/><Relationship Id="rId8" Target="../media/image21.png" Type="http://schemas.openxmlformats.org/officeDocument/2006/relationships/image"/><Relationship Id="rId9" Target="../media/image22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-136575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7000"/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3" id="3"/>
          <p:cNvGrpSpPr/>
          <p:nvPr/>
        </p:nvGrpSpPr>
        <p:grpSpPr>
          <a:xfrm rot="0">
            <a:off x="9008620" y="8601911"/>
            <a:ext cx="1208411" cy="1384485"/>
            <a:chOff x="0" y="0"/>
            <a:chExt cx="318265" cy="36463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318265" cy="364638"/>
            </a:xfrm>
            <a:custGeom>
              <a:avLst/>
              <a:gdLst/>
              <a:ahLst/>
              <a:cxnLst/>
              <a:rect r="r" b="b" t="t" l="l"/>
              <a:pathLst>
                <a:path h="364638" w="318265">
                  <a:moveTo>
                    <a:pt x="128134" y="0"/>
                  </a:moveTo>
                  <a:lnTo>
                    <a:pt x="190131" y="0"/>
                  </a:lnTo>
                  <a:cubicBezTo>
                    <a:pt x="260897" y="0"/>
                    <a:pt x="318265" y="57368"/>
                    <a:pt x="318265" y="128134"/>
                  </a:cubicBezTo>
                  <a:lnTo>
                    <a:pt x="318265" y="236504"/>
                  </a:lnTo>
                  <a:cubicBezTo>
                    <a:pt x="318265" y="270487"/>
                    <a:pt x="304765" y="303079"/>
                    <a:pt x="280735" y="327109"/>
                  </a:cubicBezTo>
                  <a:cubicBezTo>
                    <a:pt x="256705" y="351138"/>
                    <a:pt x="224114" y="364638"/>
                    <a:pt x="190131" y="364638"/>
                  </a:cubicBezTo>
                  <a:lnTo>
                    <a:pt x="128134" y="364638"/>
                  </a:lnTo>
                  <a:cubicBezTo>
                    <a:pt x="94151" y="364638"/>
                    <a:pt x="61559" y="351138"/>
                    <a:pt x="37530" y="327109"/>
                  </a:cubicBezTo>
                  <a:cubicBezTo>
                    <a:pt x="13500" y="303079"/>
                    <a:pt x="0" y="270487"/>
                    <a:pt x="0" y="236504"/>
                  </a:cubicBezTo>
                  <a:lnTo>
                    <a:pt x="0" y="128134"/>
                  </a:lnTo>
                  <a:cubicBezTo>
                    <a:pt x="0" y="94151"/>
                    <a:pt x="13500" y="61559"/>
                    <a:pt x="37530" y="37530"/>
                  </a:cubicBezTo>
                  <a:cubicBezTo>
                    <a:pt x="61559" y="13500"/>
                    <a:pt x="94151" y="0"/>
                    <a:pt x="128134" y="0"/>
                  </a:cubicBezTo>
                  <a:close/>
                </a:path>
              </a:pathLst>
            </a:custGeom>
            <a:solidFill>
              <a:srgbClr val="D9D9D9">
                <a:alpha val="11765"/>
              </a:srgbClr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318265" cy="40273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1028700" y="8596897"/>
            <a:ext cx="4288471" cy="1125724"/>
          </a:xfrm>
          <a:custGeom>
            <a:avLst/>
            <a:gdLst/>
            <a:ahLst/>
            <a:cxnLst/>
            <a:rect r="r" b="b" t="t" l="l"/>
            <a:pathLst>
              <a:path h="1125724" w="4288471">
                <a:moveTo>
                  <a:pt x="0" y="0"/>
                </a:moveTo>
                <a:lnTo>
                  <a:pt x="4288471" y="0"/>
                </a:lnTo>
                <a:lnTo>
                  <a:pt x="4288471" y="1125724"/>
                </a:lnTo>
                <a:lnTo>
                  <a:pt x="0" y="112572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70000"/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0" y="0"/>
            <a:ext cx="2525527" cy="1894145"/>
          </a:xfrm>
          <a:custGeom>
            <a:avLst/>
            <a:gdLst/>
            <a:ahLst/>
            <a:cxnLst/>
            <a:rect r="r" b="b" t="t" l="l"/>
            <a:pathLst>
              <a:path h="1894145" w="2525527">
                <a:moveTo>
                  <a:pt x="0" y="0"/>
                </a:moveTo>
                <a:lnTo>
                  <a:pt x="2525527" y="0"/>
                </a:lnTo>
                <a:lnTo>
                  <a:pt x="2525527" y="1894145"/>
                </a:lnTo>
                <a:lnTo>
                  <a:pt x="0" y="189414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5076720" y="-136575"/>
            <a:ext cx="3047986" cy="2030720"/>
          </a:xfrm>
          <a:custGeom>
            <a:avLst/>
            <a:gdLst/>
            <a:ahLst/>
            <a:cxnLst/>
            <a:rect r="r" b="b" t="t" l="l"/>
            <a:pathLst>
              <a:path h="2030720" w="3047986">
                <a:moveTo>
                  <a:pt x="0" y="0"/>
                </a:moveTo>
                <a:lnTo>
                  <a:pt x="3047986" y="0"/>
                </a:lnTo>
                <a:lnTo>
                  <a:pt x="3047986" y="2030720"/>
                </a:lnTo>
                <a:lnTo>
                  <a:pt x="0" y="203072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1028700" y="6242007"/>
            <a:ext cx="9793748" cy="1119808"/>
            <a:chOff x="0" y="0"/>
            <a:chExt cx="3450939" cy="394577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3450939" cy="394577"/>
            </a:xfrm>
            <a:custGeom>
              <a:avLst/>
              <a:gdLst/>
              <a:ahLst/>
              <a:cxnLst/>
              <a:rect r="r" b="b" t="t" l="l"/>
              <a:pathLst>
                <a:path h="394577" w="3450939">
                  <a:moveTo>
                    <a:pt x="15019" y="0"/>
                  </a:moveTo>
                  <a:lnTo>
                    <a:pt x="3435919" y="0"/>
                  </a:lnTo>
                  <a:cubicBezTo>
                    <a:pt x="3439902" y="0"/>
                    <a:pt x="3443723" y="1582"/>
                    <a:pt x="3446540" y="4399"/>
                  </a:cubicBezTo>
                  <a:cubicBezTo>
                    <a:pt x="3449356" y="7216"/>
                    <a:pt x="3450939" y="11036"/>
                    <a:pt x="3450939" y="15019"/>
                  </a:cubicBezTo>
                  <a:lnTo>
                    <a:pt x="3450939" y="379558"/>
                  </a:lnTo>
                  <a:cubicBezTo>
                    <a:pt x="3450939" y="383541"/>
                    <a:pt x="3449356" y="387361"/>
                    <a:pt x="3446540" y="390178"/>
                  </a:cubicBezTo>
                  <a:cubicBezTo>
                    <a:pt x="3443723" y="392995"/>
                    <a:pt x="3439902" y="394577"/>
                    <a:pt x="3435919" y="394577"/>
                  </a:cubicBezTo>
                  <a:lnTo>
                    <a:pt x="15019" y="394577"/>
                  </a:lnTo>
                  <a:cubicBezTo>
                    <a:pt x="11036" y="394577"/>
                    <a:pt x="7216" y="392995"/>
                    <a:pt x="4399" y="390178"/>
                  </a:cubicBezTo>
                  <a:cubicBezTo>
                    <a:pt x="1582" y="387361"/>
                    <a:pt x="0" y="383541"/>
                    <a:pt x="0" y="379558"/>
                  </a:cubicBezTo>
                  <a:lnTo>
                    <a:pt x="0" y="15019"/>
                  </a:lnTo>
                  <a:cubicBezTo>
                    <a:pt x="0" y="11036"/>
                    <a:pt x="1582" y="7216"/>
                    <a:pt x="4399" y="4399"/>
                  </a:cubicBezTo>
                  <a:cubicBezTo>
                    <a:pt x="7216" y="1582"/>
                    <a:pt x="11036" y="0"/>
                    <a:pt x="15019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47625" cap="sq">
              <a:solidFill>
                <a:srgbClr val="2E2E2E"/>
              </a:solidFill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57150"/>
              <a:ext cx="3450939" cy="45172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4059"/>
                </a:lnSpc>
              </a:pPr>
              <a:r>
                <a:rPr lang="en-US" sz="2899">
                  <a:solidFill>
                    <a:srgbClr val="000000"/>
                  </a:solidFill>
                  <a:latin typeface="Neue Montreal"/>
                  <a:ea typeface="Neue Montreal"/>
                  <a:cs typeface="Neue Montreal"/>
                  <a:sym typeface="Neue Montreal"/>
                </a:rPr>
                <a:t>  SIMPLIFIER LA NAVIGATION INTÉRIEURE DES AÉROPORTS.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028700" y="5006925"/>
            <a:ext cx="9793748" cy="1119808"/>
            <a:chOff x="0" y="0"/>
            <a:chExt cx="3450939" cy="394577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3450939" cy="394577"/>
            </a:xfrm>
            <a:custGeom>
              <a:avLst/>
              <a:gdLst/>
              <a:ahLst/>
              <a:cxnLst/>
              <a:rect r="r" b="b" t="t" l="l"/>
              <a:pathLst>
                <a:path h="394577" w="3450939">
                  <a:moveTo>
                    <a:pt x="15019" y="0"/>
                  </a:moveTo>
                  <a:lnTo>
                    <a:pt x="3435919" y="0"/>
                  </a:lnTo>
                  <a:cubicBezTo>
                    <a:pt x="3439902" y="0"/>
                    <a:pt x="3443723" y="1582"/>
                    <a:pt x="3446540" y="4399"/>
                  </a:cubicBezTo>
                  <a:cubicBezTo>
                    <a:pt x="3449356" y="7216"/>
                    <a:pt x="3450939" y="11036"/>
                    <a:pt x="3450939" y="15019"/>
                  </a:cubicBezTo>
                  <a:lnTo>
                    <a:pt x="3450939" y="379558"/>
                  </a:lnTo>
                  <a:cubicBezTo>
                    <a:pt x="3450939" y="383541"/>
                    <a:pt x="3449356" y="387361"/>
                    <a:pt x="3446540" y="390178"/>
                  </a:cubicBezTo>
                  <a:cubicBezTo>
                    <a:pt x="3443723" y="392995"/>
                    <a:pt x="3439902" y="394577"/>
                    <a:pt x="3435919" y="394577"/>
                  </a:cubicBezTo>
                  <a:lnTo>
                    <a:pt x="15019" y="394577"/>
                  </a:lnTo>
                  <a:cubicBezTo>
                    <a:pt x="11036" y="394577"/>
                    <a:pt x="7216" y="392995"/>
                    <a:pt x="4399" y="390178"/>
                  </a:cubicBezTo>
                  <a:cubicBezTo>
                    <a:pt x="1582" y="387361"/>
                    <a:pt x="0" y="383541"/>
                    <a:pt x="0" y="379558"/>
                  </a:cubicBezTo>
                  <a:lnTo>
                    <a:pt x="0" y="15019"/>
                  </a:lnTo>
                  <a:cubicBezTo>
                    <a:pt x="0" y="11036"/>
                    <a:pt x="1582" y="7216"/>
                    <a:pt x="4399" y="4399"/>
                  </a:cubicBezTo>
                  <a:cubicBezTo>
                    <a:pt x="7216" y="1582"/>
                    <a:pt x="11036" y="0"/>
                    <a:pt x="15019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47625" cap="sq">
              <a:solidFill>
                <a:srgbClr val="2E2E2E"/>
              </a:solidFill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57150"/>
              <a:ext cx="3450939" cy="45172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4059"/>
                </a:lnSpc>
              </a:pPr>
              <a:r>
                <a:rPr lang="en-US" sz="2899">
                  <a:solidFill>
                    <a:srgbClr val="000000"/>
                  </a:solidFill>
                  <a:latin typeface="Neue Montreal"/>
                  <a:ea typeface="Neue Montreal"/>
                  <a:cs typeface="Neue Montreal"/>
                  <a:sym typeface="Neue Montreal"/>
                </a:rPr>
                <a:t>  ÉLIMINER LA CONFUSION DES BAGAGES.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028700" y="8748605"/>
            <a:ext cx="11139711" cy="1119808"/>
            <a:chOff x="0" y="0"/>
            <a:chExt cx="3925204" cy="394577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3925204" cy="394577"/>
            </a:xfrm>
            <a:custGeom>
              <a:avLst/>
              <a:gdLst/>
              <a:ahLst/>
              <a:cxnLst/>
              <a:rect r="r" b="b" t="t" l="l"/>
              <a:pathLst>
                <a:path h="394577" w="3925204">
                  <a:moveTo>
                    <a:pt x="13205" y="0"/>
                  </a:moveTo>
                  <a:lnTo>
                    <a:pt x="3911999" y="0"/>
                  </a:lnTo>
                  <a:cubicBezTo>
                    <a:pt x="3915501" y="0"/>
                    <a:pt x="3918860" y="1391"/>
                    <a:pt x="3921336" y="3868"/>
                  </a:cubicBezTo>
                  <a:cubicBezTo>
                    <a:pt x="3923812" y="6344"/>
                    <a:pt x="3925204" y="9703"/>
                    <a:pt x="3925204" y="13205"/>
                  </a:cubicBezTo>
                  <a:lnTo>
                    <a:pt x="3925204" y="381372"/>
                  </a:lnTo>
                  <a:cubicBezTo>
                    <a:pt x="3925204" y="384874"/>
                    <a:pt x="3923812" y="388233"/>
                    <a:pt x="3921336" y="390709"/>
                  </a:cubicBezTo>
                  <a:cubicBezTo>
                    <a:pt x="3918860" y="393186"/>
                    <a:pt x="3915501" y="394577"/>
                    <a:pt x="3911999" y="394577"/>
                  </a:cubicBezTo>
                  <a:lnTo>
                    <a:pt x="13205" y="394577"/>
                  </a:lnTo>
                  <a:cubicBezTo>
                    <a:pt x="9703" y="394577"/>
                    <a:pt x="6344" y="393186"/>
                    <a:pt x="3868" y="390709"/>
                  </a:cubicBezTo>
                  <a:cubicBezTo>
                    <a:pt x="1391" y="388233"/>
                    <a:pt x="0" y="384874"/>
                    <a:pt x="0" y="381372"/>
                  </a:cubicBezTo>
                  <a:lnTo>
                    <a:pt x="0" y="13205"/>
                  </a:lnTo>
                  <a:cubicBezTo>
                    <a:pt x="0" y="9703"/>
                    <a:pt x="1391" y="6344"/>
                    <a:pt x="3868" y="3868"/>
                  </a:cubicBezTo>
                  <a:cubicBezTo>
                    <a:pt x="6344" y="1391"/>
                    <a:pt x="9703" y="0"/>
                    <a:pt x="13205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47625" cap="sq">
              <a:solidFill>
                <a:srgbClr val="2E2E2E"/>
              </a:solidFill>
              <a:prstDash val="solid"/>
              <a:miter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0" y="-57150"/>
              <a:ext cx="3925204" cy="45172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4059"/>
                </a:lnSpc>
              </a:pPr>
              <a:r>
                <a:rPr lang="en-US" sz="2899">
                  <a:solidFill>
                    <a:srgbClr val="000000"/>
                  </a:solidFill>
                  <a:latin typeface="Neue Montreal"/>
                  <a:ea typeface="Neue Montreal"/>
                  <a:cs typeface="Neue Montreal"/>
                  <a:sym typeface="Neue Montreal"/>
                </a:rPr>
                <a:t>  RENFORCER L’EFFICACITÉ OPÉRATIONNELLE DES AÉROPORTS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028700" y="7476115"/>
            <a:ext cx="9793748" cy="1119808"/>
            <a:chOff x="0" y="0"/>
            <a:chExt cx="3450939" cy="394577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3450939" cy="394577"/>
            </a:xfrm>
            <a:custGeom>
              <a:avLst/>
              <a:gdLst/>
              <a:ahLst/>
              <a:cxnLst/>
              <a:rect r="r" b="b" t="t" l="l"/>
              <a:pathLst>
                <a:path h="394577" w="3450939">
                  <a:moveTo>
                    <a:pt x="15019" y="0"/>
                  </a:moveTo>
                  <a:lnTo>
                    <a:pt x="3435919" y="0"/>
                  </a:lnTo>
                  <a:cubicBezTo>
                    <a:pt x="3439902" y="0"/>
                    <a:pt x="3443723" y="1582"/>
                    <a:pt x="3446540" y="4399"/>
                  </a:cubicBezTo>
                  <a:cubicBezTo>
                    <a:pt x="3449356" y="7216"/>
                    <a:pt x="3450939" y="11036"/>
                    <a:pt x="3450939" y="15019"/>
                  </a:cubicBezTo>
                  <a:lnTo>
                    <a:pt x="3450939" y="379558"/>
                  </a:lnTo>
                  <a:cubicBezTo>
                    <a:pt x="3450939" y="383541"/>
                    <a:pt x="3449356" y="387361"/>
                    <a:pt x="3446540" y="390178"/>
                  </a:cubicBezTo>
                  <a:cubicBezTo>
                    <a:pt x="3443723" y="392995"/>
                    <a:pt x="3439902" y="394577"/>
                    <a:pt x="3435919" y="394577"/>
                  </a:cubicBezTo>
                  <a:lnTo>
                    <a:pt x="15019" y="394577"/>
                  </a:lnTo>
                  <a:cubicBezTo>
                    <a:pt x="11036" y="394577"/>
                    <a:pt x="7216" y="392995"/>
                    <a:pt x="4399" y="390178"/>
                  </a:cubicBezTo>
                  <a:cubicBezTo>
                    <a:pt x="1582" y="387361"/>
                    <a:pt x="0" y="383541"/>
                    <a:pt x="0" y="379558"/>
                  </a:cubicBezTo>
                  <a:lnTo>
                    <a:pt x="0" y="15019"/>
                  </a:lnTo>
                  <a:cubicBezTo>
                    <a:pt x="0" y="11036"/>
                    <a:pt x="1582" y="7216"/>
                    <a:pt x="4399" y="4399"/>
                  </a:cubicBezTo>
                  <a:cubicBezTo>
                    <a:pt x="7216" y="1582"/>
                    <a:pt x="11036" y="0"/>
                    <a:pt x="15019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47625" cap="sq">
              <a:solidFill>
                <a:srgbClr val="2E2E2E"/>
              </a:solidFill>
              <a:prstDash val="solid"/>
              <a:miter/>
            </a:ln>
          </p:spPr>
        </p:sp>
        <p:sp>
          <p:nvSpPr>
            <p:cNvPr name="TextBox 20" id="20"/>
            <p:cNvSpPr txBox="true"/>
            <p:nvPr/>
          </p:nvSpPr>
          <p:spPr>
            <a:xfrm>
              <a:off x="0" y="-57150"/>
              <a:ext cx="3450939" cy="45172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4059"/>
                </a:lnSpc>
              </a:pPr>
              <a:r>
                <a:rPr lang="en-US" sz="2899">
                  <a:solidFill>
                    <a:srgbClr val="000000"/>
                  </a:solidFill>
                  <a:latin typeface="Neue Montreal"/>
                  <a:ea typeface="Neue Montreal"/>
                  <a:cs typeface="Neue Montreal"/>
                  <a:sym typeface="Neue Montreal"/>
                </a:rPr>
                <a:t>  OPTIMISER L'EXPÉRIENCE PASSAGER EN TEMPS RÉEL.</a:t>
              </a:r>
            </a:p>
          </p:txBody>
        </p:sp>
      </p:grpSp>
      <p:grpSp>
        <p:nvGrpSpPr>
          <p:cNvPr name="Group 21" id="21"/>
          <p:cNvGrpSpPr>
            <a:grpSpLocks noChangeAspect="true"/>
          </p:cNvGrpSpPr>
          <p:nvPr/>
        </p:nvGrpSpPr>
        <p:grpSpPr>
          <a:xfrm rot="0">
            <a:off x="13134938" y="4016435"/>
            <a:ext cx="3555045" cy="7034268"/>
            <a:chOff x="0" y="0"/>
            <a:chExt cx="2620010" cy="518414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53340" y="25400"/>
              <a:ext cx="2513330" cy="5132070"/>
            </a:xfrm>
            <a:custGeom>
              <a:avLst/>
              <a:gdLst/>
              <a:ahLst/>
              <a:cxnLst/>
              <a:rect r="r" b="b" t="t" l="l"/>
              <a:pathLst>
                <a:path h="5132070" w="251333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23" id="23"/>
            <p:cNvSpPr/>
            <p:nvPr/>
          </p:nvSpPr>
          <p:spPr>
            <a:xfrm flipH="false" flipV="false" rot="0">
              <a:off x="185420" y="156210"/>
              <a:ext cx="2251710" cy="4876800"/>
            </a:xfrm>
            <a:custGeom>
              <a:avLst/>
              <a:gdLst/>
              <a:ahLst/>
              <a:cxnLst/>
              <a:rect r="r" b="b" t="t" l="l"/>
              <a:pathLst>
                <a:path h="4876800" w="2251710">
                  <a:moveTo>
                    <a:pt x="2040890" y="0"/>
                  </a:moveTo>
                  <a:lnTo>
                    <a:pt x="1769110" y="0"/>
                  </a:lnTo>
                  <a:lnTo>
                    <a:pt x="1769110" y="57150"/>
                  </a:lnTo>
                  <a:cubicBezTo>
                    <a:pt x="1769110" y="121920"/>
                    <a:pt x="1715770" y="175260"/>
                    <a:pt x="1651000" y="175260"/>
                  </a:cubicBezTo>
                  <a:lnTo>
                    <a:pt x="601980" y="175260"/>
                  </a:lnTo>
                  <a:cubicBezTo>
                    <a:pt x="537210" y="175260"/>
                    <a:pt x="483870" y="121920"/>
                    <a:pt x="483870" y="57150"/>
                  </a:cubicBezTo>
                  <a:lnTo>
                    <a:pt x="483870" y="0"/>
                  </a:lnTo>
                  <a:lnTo>
                    <a:pt x="209550" y="0"/>
                  </a:lnTo>
                  <a:cubicBezTo>
                    <a:pt x="93980" y="0"/>
                    <a:pt x="0" y="93980"/>
                    <a:pt x="0" y="209550"/>
                  </a:cubicBezTo>
                  <a:lnTo>
                    <a:pt x="0" y="4667250"/>
                  </a:lnTo>
                  <a:cubicBezTo>
                    <a:pt x="0" y="4782820"/>
                    <a:pt x="93980" y="4876800"/>
                    <a:pt x="209550" y="4876800"/>
                  </a:cubicBezTo>
                  <a:lnTo>
                    <a:pt x="2040890" y="4876800"/>
                  </a:lnTo>
                  <a:cubicBezTo>
                    <a:pt x="2156460" y="4876800"/>
                    <a:pt x="2250440" y="4782820"/>
                    <a:pt x="2250440" y="4667250"/>
                  </a:cubicBezTo>
                  <a:lnTo>
                    <a:pt x="2250440" y="209550"/>
                  </a:lnTo>
                  <a:cubicBezTo>
                    <a:pt x="2251710" y="93980"/>
                    <a:pt x="2157730" y="0"/>
                    <a:pt x="2040890" y="0"/>
                  </a:cubicBezTo>
                  <a:close/>
                </a:path>
              </a:pathLst>
            </a:custGeom>
            <a:blipFill>
              <a:blip r:embed="rId6"/>
              <a:stretch>
                <a:fillRect l="-35425" t="0" r="-42096" b="0"/>
              </a:stretch>
            </a:blipFill>
          </p:spPr>
        </p:sp>
        <p:sp>
          <p:nvSpPr>
            <p:cNvPr name="Freeform 24" id="24"/>
            <p:cNvSpPr/>
            <p:nvPr/>
          </p:nvSpPr>
          <p:spPr>
            <a:xfrm flipH="false" flipV="false" rot="0">
              <a:off x="1121410" y="198120"/>
              <a:ext cx="347980" cy="43180"/>
            </a:xfrm>
            <a:custGeom>
              <a:avLst/>
              <a:gdLst/>
              <a:ahLst/>
              <a:cxnLst/>
              <a:rect r="r" b="b" t="t" l="l"/>
              <a:pathLst>
                <a:path h="43180" w="34798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555555"/>
            </a:solidFill>
          </p:spPr>
        </p:sp>
        <p:sp>
          <p:nvSpPr>
            <p:cNvPr name="Freeform 25" id="25"/>
            <p:cNvSpPr/>
            <p:nvPr/>
          </p:nvSpPr>
          <p:spPr>
            <a:xfrm flipH="false" flipV="false" rot="0">
              <a:off x="1578312" y="187909"/>
              <a:ext cx="66636" cy="63602"/>
            </a:xfrm>
            <a:custGeom>
              <a:avLst/>
              <a:gdLst/>
              <a:ahLst/>
              <a:cxnLst/>
              <a:rect r="r" b="b" t="t" l="l"/>
              <a:pathLst>
                <a:path h="63602" w="66636">
                  <a:moveTo>
                    <a:pt x="33318" y="51"/>
                  </a:moveTo>
                  <a:cubicBezTo>
                    <a:pt x="21941" y="0"/>
                    <a:pt x="11406" y="6040"/>
                    <a:pt x="5703" y="15885"/>
                  </a:cubicBezTo>
                  <a:cubicBezTo>
                    <a:pt x="0" y="25729"/>
                    <a:pt x="0" y="37873"/>
                    <a:pt x="5703" y="47717"/>
                  </a:cubicBezTo>
                  <a:cubicBezTo>
                    <a:pt x="11406" y="57562"/>
                    <a:pt x="21941" y="63602"/>
                    <a:pt x="33318" y="63551"/>
                  </a:cubicBezTo>
                  <a:cubicBezTo>
                    <a:pt x="44695" y="63602"/>
                    <a:pt x="55230" y="57562"/>
                    <a:pt x="60933" y="47717"/>
                  </a:cubicBezTo>
                  <a:cubicBezTo>
                    <a:pt x="66636" y="37873"/>
                    <a:pt x="66636" y="25729"/>
                    <a:pt x="60933" y="15885"/>
                  </a:cubicBezTo>
                  <a:cubicBezTo>
                    <a:pt x="55230" y="6040"/>
                    <a:pt x="44695" y="0"/>
                    <a:pt x="33318" y="51"/>
                  </a:cubicBezTo>
                  <a:close/>
                </a:path>
              </a:pathLst>
            </a:custGeom>
            <a:solidFill>
              <a:srgbClr val="555555"/>
            </a:solidFill>
          </p:spPr>
        </p:sp>
        <p:sp>
          <p:nvSpPr>
            <p:cNvPr name="Freeform 26" id="26"/>
            <p:cNvSpPr/>
            <p:nvPr/>
          </p:nvSpPr>
          <p:spPr>
            <a:xfrm flipH="false" flipV="false" rot="0">
              <a:off x="0" y="685800"/>
              <a:ext cx="27940" cy="213360"/>
            </a:xfrm>
            <a:custGeom>
              <a:avLst/>
              <a:gdLst/>
              <a:ahLst/>
              <a:cxnLst/>
              <a:rect r="r" b="b" t="t" l="l"/>
              <a:pathLst>
                <a:path h="213360" w="2794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2E2E2E"/>
            </a:solidFill>
          </p:spPr>
        </p:sp>
        <p:sp>
          <p:nvSpPr>
            <p:cNvPr name="Freeform 27" id="27"/>
            <p:cNvSpPr/>
            <p:nvPr/>
          </p:nvSpPr>
          <p:spPr>
            <a:xfrm flipH="false" flipV="false" rot="0">
              <a:off x="0" y="1057910"/>
              <a:ext cx="27940" cy="384810"/>
            </a:xfrm>
            <a:custGeom>
              <a:avLst/>
              <a:gdLst/>
              <a:ahLst/>
              <a:cxnLst/>
              <a:rect r="r" b="b" t="t" l="l"/>
              <a:pathLst>
                <a:path h="384810" w="2794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2E2E2E"/>
            </a:solidFill>
          </p:spPr>
        </p:sp>
        <p:sp>
          <p:nvSpPr>
            <p:cNvPr name="Freeform 28" id="28"/>
            <p:cNvSpPr/>
            <p:nvPr/>
          </p:nvSpPr>
          <p:spPr>
            <a:xfrm flipH="false" flipV="false" rot="0">
              <a:off x="0" y="1526540"/>
              <a:ext cx="27940" cy="386080"/>
            </a:xfrm>
            <a:custGeom>
              <a:avLst/>
              <a:gdLst/>
              <a:ahLst/>
              <a:cxnLst/>
              <a:rect r="r" b="b" t="t" l="l"/>
              <a:pathLst>
                <a:path h="386080" w="2794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2E2E2E"/>
            </a:solidFill>
          </p:spPr>
        </p:sp>
        <p:sp>
          <p:nvSpPr>
            <p:cNvPr name="Freeform 29" id="29"/>
            <p:cNvSpPr/>
            <p:nvPr/>
          </p:nvSpPr>
          <p:spPr>
            <a:xfrm flipH="false" flipV="false" rot="0">
              <a:off x="2592070" y="1184910"/>
              <a:ext cx="27940" cy="618490"/>
            </a:xfrm>
            <a:custGeom>
              <a:avLst/>
              <a:gdLst/>
              <a:ahLst/>
              <a:cxnLst/>
              <a:rect r="r" b="b" t="t" l="l"/>
              <a:pathLst>
                <a:path h="618490" w="2794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2E2E2E"/>
            </a:solidFill>
          </p:spPr>
        </p:sp>
        <p:sp>
          <p:nvSpPr>
            <p:cNvPr name="Freeform 30" id="30"/>
            <p:cNvSpPr/>
            <p:nvPr/>
          </p:nvSpPr>
          <p:spPr>
            <a:xfrm flipH="false" flipV="false" rot="0">
              <a:off x="27940" y="0"/>
              <a:ext cx="2564130" cy="5182870"/>
            </a:xfrm>
            <a:custGeom>
              <a:avLst/>
              <a:gdLst/>
              <a:ahLst/>
              <a:cxnLst/>
              <a:rect r="r" b="b" t="t" l="l"/>
              <a:pathLst>
                <a:path h="5182870" w="256413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555555"/>
            </a:solidFill>
          </p:spPr>
        </p:sp>
      </p:grpSp>
      <p:sp>
        <p:nvSpPr>
          <p:cNvPr name="TextBox 31" id="31"/>
          <p:cNvSpPr txBox="true"/>
          <p:nvPr/>
        </p:nvSpPr>
        <p:spPr>
          <a:xfrm rot="0">
            <a:off x="16689983" y="9163050"/>
            <a:ext cx="1437477" cy="8952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355"/>
              </a:lnSpc>
              <a:spcBef>
                <a:spcPct val="0"/>
              </a:spcBef>
            </a:pPr>
            <a:r>
              <a:rPr lang="en-US" b="true" sz="5253" spc="147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1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2790462" y="1987610"/>
            <a:ext cx="12286259" cy="1876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600"/>
              </a:lnSpc>
            </a:pPr>
            <a:r>
              <a:rPr lang="en-US" sz="6000" b="true">
                <a:solidFill>
                  <a:srgbClr val="CA0909"/>
                </a:solidFill>
                <a:latin typeface="Agrandir Bold"/>
                <a:ea typeface="Agrandir Bold"/>
                <a:cs typeface="Agrandir Bold"/>
                <a:sym typeface="Agrandir Bold"/>
              </a:rPr>
              <a:t>Transformer la confusion en connexion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78787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9701" y="2989453"/>
            <a:ext cx="6054669" cy="2319127"/>
            <a:chOff x="0" y="0"/>
            <a:chExt cx="1594645" cy="61079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594645" cy="610799"/>
            </a:xfrm>
            <a:custGeom>
              <a:avLst/>
              <a:gdLst/>
              <a:ahLst/>
              <a:cxnLst/>
              <a:rect r="r" b="b" t="t" l="l"/>
              <a:pathLst>
                <a:path h="610799" w="1594645">
                  <a:moveTo>
                    <a:pt x="25573" y="0"/>
                  </a:moveTo>
                  <a:lnTo>
                    <a:pt x="1569072" y="0"/>
                  </a:lnTo>
                  <a:cubicBezTo>
                    <a:pt x="1575854" y="0"/>
                    <a:pt x="1582359" y="2694"/>
                    <a:pt x="1587155" y="7490"/>
                  </a:cubicBezTo>
                  <a:cubicBezTo>
                    <a:pt x="1591951" y="12286"/>
                    <a:pt x="1594645" y="18791"/>
                    <a:pt x="1594645" y="25573"/>
                  </a:cubicBezTo>
                  <a:lnTo>
                    <a:pt x="1594645" y="585225"/>
                  </a:lnTo>
                  <a:cubicBezTo>
                    <a:pt x="1594645" y="592008"/>
                    <a:pt x="1591951" y="598513"/>
                    <a:pt x="1587155" y="603308"/>
                  </a:cubicBezTo>
                  <a:cubicBezTo>
                    <a:pt x="1582359" y="608104"/>
                    <a:pt x="1575854" y="610799"/>
                    <a:pt x="1569072" y="610799"/>
                  </a:cubicBezTo>
                  <a:lnTo>
                    <a:pt x="25573" y="610799"/>
                  </a:lnTo>
                  <a:cubicBezTo>
                    <a:pt x="18791" y="610799"/>
                    <a:pt x="12286" y="608104"/>
                    <a:pt x="7490" y="603308"/>
                  </a:cubicBezTo>
                  <a:cubicBezTo>
                    <a:pt x="2694" y="598513"/>
                    <a:pt x="0" y="592008"/>
                    <a:pt x="0" y="585225"/>
                  </a:cubicBezTo>
                  <a:lnTo>
                    <a:pt x="0" y="25573"/>
                  </a:lnTo>
                  <a:cubicBezTo>
                    <a:pt x="0" y="18791"/>
                    <a:pt x="2694" y="12286"/>
                    <a:pt x="7490" y="7490"/>
                  </a:cubicBezTo>
                  <a:cubicBezTo>
                    <a:pt x="12286" y="2694"/>
                    <a:pt x="18791" y="0"/>
                    <a:pt x="25573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594645" cy="64889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750561" y="8444729"/>
            <a:ext cx="1595674" cy="1311000"/>
            <a:chOff x="0" y="0"/>
            <a:chExt cx="420260" cy="345284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20260" cy="345284"/>
            </a:xfrm>
            <a:custGeom>
              <a:avLst/>
              <a:gdLst/>
              <a:ahLst/>
              <a:cxnLst/>
              <a:rect r="r" b="b" t="t" l="l"/>
              <a:pathLst>
                <a:path h="345284" w="420260">
                  <a:moveTo>
                    <a:pt x="97036" y="0"/>
                  </a:moveTo>
                  <a:lnTo>
                    <a:pt x="323223" y="0"/>
                  </a:lnTo>
                  <a:cubicBezTo>
                    <a:pt x="348959" y="0"/>
                    <a:pt x="373641" y="10223"/>
                    <a:pt x="391839" y="28421"/>
                  </a:cubicBezTo>
                  <a:cubicBezTo>
                    <a:pt x="410036" y="46619"/>
                    <a:pt x="420260" y="71301"/>
                    <a:pt x="420260" y="97036"/>
                  </a:cubicBezTo>
                  <a:lnTo>
                    <a:pt x="420260" y="248247"/>
                  </a:lnTo>
                  <a:cubicBezTo>
                    <a:pt x="420260" y="273983"/>
                    <a:pt x="410036" y="298665"/>
                    <a:pt x="391839" y="316863"/>
                  </a:cubicBezTo>
                  <a:cubicBezTo>
                    <a:pt x="373641" y="335060"/>
                    <a:pt x="348959" y="345284"/>
                    <a:pt x="323223" y="345284"/>
                  </a:cubicBezTo>
                  <a:lnTo>
                    <a:pt x="97036" y="345284"/>
                  </a:lnTo>
                  <a:cubicBezTo>
                    <a:pt x="71301" y="345284"/>
                    <a:pt x="46619" y="335060"/>
                    <a:pt x="28421" y="316863"/>
                  </a:cubicBezTo>
                  <a:cubicBezTo>
                    <a:pt x="10223" y="298665"/>
                    <a:pt x="0" y="273983"/>
                    <a:pt x="0" y="248247"/>
                  </a:cubicBezTo>
                  <a:lnTo>
                    <a:pt x="0" y="97036"/>
                  </a:lnTo>
                  <a:cubicBezTo>
                    <a:pt x="0" y="71301"/>
                    <a:pt x="10223" y="46619"/>
                    <a:pt x="28421" y="28421"/>
                  </a:cubicBezTo>
                  <a:cubicBezTo>
                    <a:pt x="46619" y="10223"/>
                    <a:pt x="71301" y="0"/>
                    <a:pt x="97036" y="0"/>
                  </a:cubicBezTo>
                  <a:close/>
                </a:path>
              </a:pathLst>
            </a:custGeom>
            <a:solidFill>
              <a:srgbClr val="D9D9D9">
                <a:alpha val="11765"/>
              </a:srgbClr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420260" cy="38338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617672" y="2989453"/>
            <a:ext cx="1752927" cy="2670417"/>
            <a:chOff x="0" y="0"/>
            <a:chExt cx="461676" cy="70332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61676" cy="703320"/>
            </a:xfrm>
            <a:custGeom>
              <a:avLst/>
              <a:gdLst/>
              <a:ahLst/>
              <a:cxnLst/>
              <a:rect r="r" b="b" t="t" l="l"/>
              <a:pathLst>
                <a:path h="703320" w="461676">
                  <a:moveTo>
                    <a:pt x="88331" y="0"/>
                  </a:moveTo>
                  <a:lnTo>
                    <a:pt x="373345" y="0"/>
                  </a:lnTo>
                  <a:cubicBezTo>
                    <a:pt x="396772" y="0"/>
                    <a:pt x="419239" y="9306"/>
                    <a:pt x="435805" y="25872"/>
                  </a:cubicBezTo>
                  <a:cubicBezTo>
                    <a:pt x="452370" y="42437"/>
                    <a:pt x="461676" y="64904"/>
                    <a:pt x="461676" y="88331"/>
                  </a:cubicBezTo>
                  <a:lnTo>
                    <a:pt x="461676" y="614988"/>
                  </a:lnTo>
                  <a:cubicBezTo>
                    <a:pt x="461676" y="663772"/>
                    <a:pt x="422129" y="703320"/>
                    <a:pt x="373345" y="703320"/>
                  </a:cubicBezTo>
                  <a:lnTo>
                    <a:pt x="88331" y="703320"/>
                  </a:lnTo>
                  <a:cubicBezTo>
                    <a:pt x="64904" y="703320"/>
                    <a:pt x="42437" y="694013"/>
                    <a:pt x="25872" y="677448"/>
                  </a:cubicBezTo>
                  <a:cubicBezTo>
                    <a:pt x="9306" y="660883"/>
                    <a:pt x="0" y="638415"/>
                    <a:pt x="0" y="614988"/>
                  </a:cubicBezTo>
                  <a:lnTo>
                    <a:pt x="0" y="88331"/>
                  </a:lnTo>
                  <a:cubicBezTo>
                    <a:pt x="0" y="39547"/>
                    <a:pt x="39547" y="0"/>
                    <a:pt x="88331" y="0"/>
                  </a:cubicBezTo>
                  <a:close/>
                </a:path>
              </a:pathLst>
            </a:custGeom>
            <a:solidFill>
              <a:srgbClr val="D9D9D9">
                <a:alpha val="11765"/>
              </a:srgbClr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461676" cy="74142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6218170" y="6046106"/>
            <a:ext cx="1729756" cy="2787838"/>
            <a:chOff x="0" y="0"/>
            <a:chExt cx="455574" cy="734245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55574" cy="734245"/>
            </a:xfrm>
            <a:custGeom>
              <a:avLst/>
              <a:gdLst/>
              <a:ahLst/>
              <a:cxnLst/>
              <a:rect r="r" b="b" t="t" l="l"/>
              <a:pathLst>
                <a:path h="734245" w="455574">
                  <a:moveTo>
                    <a:pt x="89515" y="0"/>
                  </a:moveTo>
                  <a:lnTo>
                    <a:pt x="366059" y="0"/>
                  </a:lnTo>
                  <a:cubicBezTo>
                    <a:pt x="389800" y="0"/>
                    <a:pt x="412568" y="9431"/>
                    <a:pt x="429355" y="26218"/>
                  </a:cubicBezTo>
                  <a:cubicBezTo>
                    <a:pt x="446143" y="43005"/>
                    <a:pt x="455574" y="65774"/>
                    <a:pt x="455574" y="89515"/>
                  </a:cubicBezTo>
                  <a:lnTo>
                    <a:pt x="455574" y="644731"/>
                  </a:lnTo>
                  <a:cubicBezTo>
                    <a:pt x="455574" y="694168"/>
                    <a:pt x="415497" y="734245"/>
                    <a:pt x="366059" y="734245"/>
                  </a:cubicBezTo>
                  <a:lnTo>
                    <a:pt x="89515" y="734245"/>
                  </a:lnTo>
                  <a:cubicBezTo>
                    <a:pt x="65774" y="734245"/>
                    <a:pt x="43005" y="724814"/>
                    <a:pt x="26218" y="708027"/>
                  </a:cubicBezTo>
                  <a:cubicBezTo>
                    <a:pt x="9431" y="691240"/>
                    <a:pt x="0" y="668472"/>
                    <a:pt x="0" y="644731"/>
                  </a:cubicBezTo>
                  <a:lnTo>
                    <a:pt x="0" y="89515"/>
                  </a:lnTo>
                  <a:cubicBezTo>
                    <a:pt x="0" y="65774"/>
                    <a:pt x="9431" y="43005"/>
                    <a:pt x="26218" y="26218"/>
                  </a:cubicBezTo>
                  <a:cubicBezTo>
                    <a:pt x="43005" y="9431"/>
                    <a:pt x="65774" y="0"/>
                    <a:pt x="89515" y="0"/>
                  </a:cubicBezTo>
                  <a:close/>
                </a:path>
              </a:pathLst>
            </a:custGeom>
            <a:solidFill>
              <a:srgbClr val="D9D9D9">
                <a:alpha val="11765"/>
              </a:srgbClr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455574" cy="77234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389528" y="733380"/>
            <a:ext cx="17179733" cy="6954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53"/>
              </a:lnSpc>
            </a:pPr>
            <a:r>
              <a:rPr lang="en-US" b="true" sz="5253" spc="-525">
                <a:solidFill>
                  <a:srgbClr val="CA0909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LES   DÉFIS   ACTUELS   DE   L’EXPÉRIENCE   PASSAGER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2712084" y="424720"/>
            <a:ext cx="5344810" cy="4291135"/>
            <a:chOff x="0" y="0"/>
            <a:chExt cx="1407687" cy="1130175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407687" cy="1130175"/>
            </a:xfrm>
            <a:custGeom>
              <a:avLst/>
              <a:gdLst/>
              <a:ahLst/>
              <a:cxnLst/>
              <a:rect r="r" b="b" t="t" l="l"/>
              <a:pathLst>
                <a:path h="1130175" w="1407687">
                  <a:moveTo>
                    <a:pt x="28970" y="0"/>
                  </a:moveTo>
                  <a:lnTo>
                    <a:pt x="1378717" y="0"/>
                  </a:lnTo>
                  <a:cubicBezTo>
                    <a:pt x="1394716" y="0"/>
                    <a:pt x="1407687" y="12970"/>
                    <a:pt x="1407687" y="28970"/>
                  </a:cubicBezTo>
                  <a:lnTo>
                    <a:pt x="1407687" y="1101206"/>
                  </a:lnTo>
                  <a:cubicBezTo>
                    <a:pt x="1407687" y="1117205"/>
                    <a:pt x="1394716" y="1130175"/>
                    <a:pt x="1378717" y="1130175"/>
                  </a:cubicBezTo>
                  <a:lnTo>
                    <a:pt x="28970" y="1130175"/>
                  </a:lnTo>
                  <a:cubicBezTo>
                    <a:pt x="12970" y="1130175"/>
                    <a:pt x="0" y="1117205"/>
                    <a:pt x="0" y="1101206"/>
                  </a:cubicBezTo>
                  <a:lnTo>
                    <a:pt x="0" y="28970"/>
                  </a:lnTo>
                  <a:cubicBezTo>
                    <a:pt x="0" y="12970"/>
                    <a:pt x="12970" y="0"/>
                    <a:pt x="28970" y="0"/>
                  </a:cubicBezTo>
                  <a:close/>
                </a:path>
              </a:pathLst>
            </a:custGeom>
            <a:solidFill>
              <a:srgbClr val="FAFAFA">
                <a:alpha val="11765"/>
              </a:srgbClr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1407687" cy="11682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7630775" y="6691008"/>
            <a:ext cx="2737023" cy="2548242"/>
            <a:chOff x="0" y="0"/>
            <a:chExt cx="720862" cy="671142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720862" cy="671142"/>
            </a:xfrm>
            <a:custGeom>
              <a:avLst/>
              <a:gdLst/>
              <a:ahLst/>
              <a:cxnLst/>
              <a:rect r="r" b="b" t="t" l="l"/>
              <a:pathLst>
                <a:path h="671142" w="720862">
                  <a:moveTo>
                    <a:pt x="56572" y="0"/>
                  </a:moveTo>
                  <a:lnTo>
                    <a:pt x="664290" y="0"/>
                  </a:lnTo>
                  <a:cubicBezTo>
                    <a:pt x="695534" y="0"/>
                    <a:pt x="720862" y="25328"/>
                    <a:pt x="720862" y="56572"/>
                  </a:cubicBezTo>
                  <a:lnTo>
                    <a:pt x="720862" y="614570"/>
                  </a:lnTo>
                  <a:cubicBezTo>
                    <a:pt x="720862" y="629574"/>
                    <a:pt x="714902" y="643963"/>
                    <a:pt x="704293" y="654572"/>
                  </a:cubicBezTo>
                  <a:cubicBezTo>
                    <a:pt x="693683" y="665182"/>
                    <a:pt x="679294" y="671142"/>
                    <a:pt x="664290" y="671142"/>
                  </a:cubicBezTo>
                  <a:lnTo>
                    <a:pt x="56572" y="671142"/>
                  </a:lnTo>
                  <a:cubicBezTo>
                    <a:pt x="25328" y="671142"/>
                    <a:pt x="0" y="645814"/>
                    <a:pt x="0" y="614570"/>
                  </a:cubicBezTo>
                  <a:lnTo>
                    <a:pt x="0" y="56572"/>
                  </a:lnTo>
                  <a:cubicBezTo>
                    <a:pt x="0" y="25328"/>
                    <a:pt x="25328" y="0"/>
                    <a:pt x="56572" y="0"/>
                  </a:cubicBezTo>
                  <a:close/>
                </a:path>
              </a:pathLst>
            </a:custGeom>
            <a:solidFill>
              <a:srgbClr val="D9D9D9">
                <a:alpha val="11765"/>
              </a:srgbClr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720862" cy="70924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6445729" y="9755728"/>
            <a:ext cx="2737023" cy="2548242"/>
            <a:chOff x="0" y="0"/>
            <a:chExt cx="720862" cy="671142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720862" cy="671142"/>
            </a:xfrm>
            <a:custGeom>
              <a:avLst/>
              <a:gdLst/>
              <a:ahLst/>
              <a:cxnLst/>
              <a:rect r="r" b="b" t="t" l="l"/>
              <a:pathLst>
                <a:path h="671142" w="720862">
                  <a:moveTo>
                    <a:pt x="56572" y="0"/>
                  </a:moveTo>
                  <a:lnTo>
                    <a:pt x="664290" y="0"/>
                  </a:lnTo>
                  <a:cubicBezTo>
                    <a:pt x="695534" y="0"/>
                    <a:pt x="720862" y="25328"/>
                    <a:pt x="720862" y="56572"/>
                  </a:cubicBezTo>
                  <a:lnTo>
                    <a:pt x="720862" y="614570"/>
                  </a:lnTo>
                  <a:cubicBezTo>
                    <a:pt x="720862" y="629574"/>
                    <a:pt x="714902" y="643963"/>
                    <a:pt x="704293" y="654572"/>
                  </a:cubicBezTo>
                  <a:cubicBezTo>
                    <a:pt x="693683" y="665182"/>
                    <a:pt x="679294" y="671142"/>
                    <a:pt x="664290" y="671142"/>
                  </a:cubicBezTo>
                  <a:lnTo>
                    <a:pt x="56572" y="671142"/>
                  </a:lnTo>
                  <a:cubicBezTo>
                    <a:pt x="25328" y="671142"/>
                    <a:pt x="0" y="645814"/>
                    <a:pt x="0" y="614570"/>
                  </a:cubicBezTo>
                  <a:lnTo>
                    <a:pt x="0" y="56572"/>
                  </a:lnTo>
                  <a:cubicBezTo>
                    <a:pt x="0" y="25328"/>
                    <a:pt x="25328" y="0"/>
                    <a:pt x="56572" y="0"/>
                  </a:cubicBezTo>
                  <a:close/>
                </a:path>
              </a:pathLst>
            </a:custGeom>
            <a:solidFill>
              <a:srgbClr val="D9D9D9">
                <a:alpha val="11765"/>
              </a:srgbClr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38100"/>
              <a:ext cx="720862" cy="70924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1028700" y="7162918"/>
            <a:ext cx="7080693" cy="2095382"/>
            <a:chOff x="0" y="0"/>
            <a:chExt cx="9440924" cy="2793842"/>
          </a:xfrm>
        </p:grpSpPr>
        <p:grpSp>
          <p:nvGrpSpPr>
            <p:cNvPr name="Group 25" id="25"/>
            <p:cNvGrpSpPr/>
            <p:nvPr/>
          </p:nvGrpSpPr>
          <p:grpSpPr>
            <a:xfrm rot="0">
              <a:off x="0" y="0"/>
              <a:ext cx="9440924" cy="2793842"/>
              <a:chOff x="0" y="0"/>
              <a:chExt cx="1864874" cy="551870"/>
            </a:xfrm>
          </p:grpSpPr>
          <p:sp>
            <p:nvSpPr>
              <p:cNvPr name="Freeform 26" id="26"/>
              <p:cNvSpPr/>
              <p:nvPr/>
            </p:nvSpPr>
            <p:spPr>
              <a:xfrm flipH="false" flipV="false" rot="0">
                <a:off x="0" y="0"/>
                <a:ext cx="1864874" cy="551870"/>
              </a:xfrm>
              <a:custGeom>
                <a:avLst/>
                <a:gdLst/>
                <a:ahLst/>
                <a:cxnLst/>
                <a:rect r="r" b="b" t="t" l="l"/>
                <a:pathLst>
                  <a:path h="551870" w="1864874">
                    <a:moveTo>
                      <a:pt x="21868" y="0"/>
                    </a:moveTo>
                    <a:lnTo>
                      <a:pt x="1843006" y="0"/>
                    </a:lnTo>
                    <a:cubicBezTo>
                      <a:pt x="1848806" y="0"/>
                      <a:pt x="1854368" y="2304"/>
                      <a:pt x="1858469" y="6405"/>
                    </a:cubicBezTo>
                    <a:cubicBezTo>
                      <a:pt x="1862570" y="10506"/>
                      <a:pt x="1864874" y="16068"/>
                      <a:pt x="1864874" y="21868"/>
                    </a:cubicBezTo>
                    <a:lnTo>
                      <a:pt x="1864874" y="530002"/>
                    </a:lnTo>
                    <a:cubicBezTo>
                      <a:pt x="1864874" y="535802"/>
                      <a:pt x="1862570" y="541364"/>
                      <a:pt x="1858469" y="545465"/>
                    </a:cubicBezTo>
                    <a:cubicBezTo>
                      <a:pt x="1854368" y="549566"/>
                      <a:pt x="1848806" y="551870"/>
                      <a:pt x="1843006" y="551870"/>
                    </a:cubicBezTo>
                    <a:lnTo>
                      <a:pt x="21868" y="551870"/>
                    </a:lnTo>
                    <a:cubicBezTo>
                      <a:pt x="16068" y="551870"/>
                      <a:pt x="10506" y="549566"/>
                      <a:pt x="6405" y="545465"/>
                    </a:cubicBezTo>
                    <a:cubicBezTo>
                      <a:pt x="2304" y="541364"/>
                      <a:pt x="0" y="535802"/>
                      <a:pt x="0" y="530002"/>
                    </a:cubicBezTo>
                    <a:lnTo>
                      <a:pt x="0" y="21868"/>
                    </a:lnTo>
                    <a:cubicBezTo>
                      <a:pt x="0" y="16068"/>
                      <a:pt x="2304" y="10506"/>
                      <a:pt x="6405" y="6405"/>
                    </a:cubicBezTo>
                    <a:cubicBezTo>
                      <a:pt x="10506" y="2304"/>
                      <a:pt x="16068" y="0"/>
                      <a:pt x="21868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sq">
                <a:solidFill>
                  <a:srgbClr val="FFFFFF"/>
                </a:solidFill>
                <a:prstDash val="solid"/>
                <a:miter/>
              </a:ln>
            </p:spPr>
          </p:sp>
          <p:sp>
            <p:nvSpPr>
              <p:cNvPr name="TextBox 27" id="27"/>
              <p:cNvSpPr txBox="true"/>
              <p:nvPr/>
            </p:nvSpPr>
            <p:spPr>
              <a:xfrm>
                <a:off x="0" y="-38100"/>
                <a:ext cx="1864874" cy="58997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359"/>
                  </a:lnSpc>
                </a:pPr>
              </a:p>
            </p:txBody>
          </p:sp>
        </p:grpSp>
        <p:sp>
          <p:nvSpPr>
            <p:cNvPr name="TextBox 28" id="28"/>
            <p:cNvSpPr txBox="true"/>
            <p:nvPr/>
          </p:nvSpPr>
          <p:spPr>
            <a:xfrm rot="0">
              <a:off x="472332" y="356367"/>
              <a:ext cx="8453997" cy="194352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919"/>
                </a:lnSpc>
                <a:spcBef>
                  <a:spcPct val="0"/>
                </a:spcBef>
              </a:pPr>
              <a:r>
                <a:rPr lang="en-US" sz="2799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Les prog</a:t>
              </a:r>
              <a:r>
                <a:rPr lang="en-US" sz="2799" strike="noStrike" u="none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rammes de fidélité actuels sont peu connectés au parcours réel du voyageur.</a:t>
              </a:r>
            </a:p>
          </p:txBody>
        </p:sp>
      </p:grpSp>
      <p:sp>
        <p:nvSpPr>
          <p:cNvPr name="TextBox 29" id="29"/>
          <p:cNvSpPr txBox="true"/>
          <p:nvPr/>
        </p:nvSpPr>
        <p:spPr>
          <a:xfrm rot="0">
            <a:off x="1026570" y="3066956"/>
            <a:ext cx="6646743" cy="20650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99"/>
              </a:lnSpc>
            </a:pPr>
            <a:r>
              <a:rPr lang="en-US" sz="2799" spc="75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Les voyageurs sont souvent désorientés dans les aéroports : signalétique complexe, portes éloignées.</a:t>
            </a:r>
          </a:p>
        </p:txBody>
      </p:sp>
      <p:grpSp>
        <p:nvGrpSpPr>
          <p:cNvPr name="Group 30" id="30"/>
          <p:cNvGrpSpPr/>
          <p:nvPr/>
        </p:nvGrpSpPr>
        <p:grpSpPr>
          <a:xfrm rot="0">
            <a:off x="9154095" y="2978003"/>
            <a:ext cx="7040481" cy="3068103"/>
            <a:chOff x="0" y="0"/>
            <a:chExt cx="1854283" cy="80806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854283" cy="808060"/>
            </a:xfrm>
            <a:custGeom>
              <a:avLst/>
              <a:gdLst/>
              <a:ahLst/>
              <a:cxnLst/>
              <a:rect r="r" b="b" t="t" l="l"/>
              <a:pathLst>
                <a:path h="808060" w="1854283">
                  <a:moveTo>
                    <a:pt x="21993" y="0"/>
                  </a:moveTo>
                  <a:lnTo>
                    <a:pt x="1832290" y="0"/>
                  </a:lnTo>
                  <a:cubicBezTo>
                    <a:pt x="1844437" y="0"/>
                    <a:pt x="1854283" y="9846"/>
                    <a:pt x="1854283" y="21993"/>
                  </a:cubicBezTo>
                  <a:lnTo>
                    <a:pt x="1854283" y="786067"/>
                  </a:lnTo>
                  <a:cubicBezTo>
                    <a:pt x="1854283" y="798214"/>
                    <a:pt x="1844437" y="808060"/>
                    <a:pt x="1832290" y="808060"/>
                  </a:cubicBezTo>
                  <a:lnTo>
                    <a:pt x="21993" y="808060"/>
                  </a:lnTo>
                  <a:cubicBezTo>
                    <a:pt x="9846" y="808060"/>
                    <a:pt x="0" y="798214"/>
                    <a:pt x="0" y="786067"/>
                  </a:cubicBezTo>
                  <a:lnTo>
                    <a:pt x="0" y="21993"/>
                  </a:lnTo>
                  <a:cubicBezTo>
                    <a:pt x="0" y="9846"/>
                    <a:pt x="9846" y="0"/>
                    <a:pt x="21993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32" id="32"/>
            <p:cNvSpPr txBox="true"/>
            <p:nvPr/>
          </p:nvSpPr>
          <p:spPr>
            <a:xfrm>
              <a:off x="0" y="-38100"/>
              <a:ext cx="1854283" cy="84616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TextBox 33" id="33"/>
          <p:cNvSpPr txBox="true"/>
          <p:nvPr/>
        </p:nvSpPr>
        <p:spPr>
          <a:xfrm rot="0">
            <a:off x="9350964" y="3055506"/>
            <a:ext cx="6646743" cy="25888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99"/>
              </a:lnSpc>
            </a:pPr>
            <a:r>
              <a:rPr lang="en-US" sz="2799" spc="75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La confusion des bagages, où des passagers récupèrent la valise d'un autre, demeure un problème fréquent, créant des erreurs et des désagréments.</a:t>
            </a:r>
          </a:p>
        </p:txBody>
      </p:sp>
      <p:grpSp>
        <p:nvGrpSpPr>
          <p:cNvPr name="Group 34" id="34"/>
          <p:cNvGrpSpPr/>
          <p:nvPr/>
        </p:nvGrpSpPr>
        <p:grpSpPr>
          <a:xfrm rot="0">
            <a:off x="9350964" y="6799727"/>
            <a:ext cx="6551768" cy="1346658"/>
            <a:chOff x="0" y="0"/>
            <a:chExt cx="1725569" cy="354675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1725569" cy="354675"/>
            </a:xfrm>
            <a:custGeom>
              <a:avLst/>
              <a:gdLst/>
              <a:ahLst/>
              <a:cxnLst/>
              <a:rect r="r" b="b" t="t" l="l"/>
              <a:pathLst>
                <a:path h="354675" w="1725569">
                  <a:moveTo>
                    <a:pt x="23633" y="0"/>
                  </a:moveTo>
                  <a:lnTo>
                    <a:pt x="1701935" y="0"/>
                  </a:lnTo>
                  <a:cubicBezTo>
                    <a:pt x="1714988" y="0"/>
                    <a:pt x="1725569" y="10581"/>
                    <a:pt x="1725569" y="23633"/>
                  </a:cubicBezTo>
                  <a:lnTo>
                    <a:pt x="1725569" y="331042"/>
                  </a:lnTo>
                  <a:cubicBezTo>
                    <a:pt x="1725569" y="344094"/>
                    <a:pt x="1714988" y="354675"/>
                    <a:pt x="1701935" y="354675"/>
                  </a:cubicBezTo>
                  <a:lnTo>
                    <a:pt x="23633" y="354675"/>
                  </a:lnTo>
                  <a:cubicBezTo>
                    <a:pt x="10581" y="354675"/>
                    <a:pt x="0" y="344094"/>
                    <a:pt x="0" y="331042"/>
                  </a:cubicBezTo>
                  <a:lnTo>
                    <a:pt x="0" y="23633"/>
                  </a:lnTo>
                  <a:cubicBezTo>
                    <a:pt x="0" y="10581"/>
                    <a:pt x="10581" y="0"/>
                    <a:pt x="23633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36" id="36"/>
            <p:cNvSpPr txBox="true"/>
            <p:nvPr/>
          </p:nvSpPr>
          <p:spPr>
            <a:xfrm>
              <a:off x="0" y="-38100"/>
              <a:ext cx="1725569" cy="3927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TextBox 37" id="37"/>
          <p:cNvSpPr txBox="true"/>
          <p:nvPr/>
        </p:nvSpPr>
        <p:spPr>
          <a:xfrm rot="0">
            <a:off x="9547833" y="6877230"/>
            <a:ext cx="6646743" cy="10172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99"/>
              </a:lnSpc>
            </a:pPr>
            <a:r>
              <a:rPr lang="en-US" sz="2799" spc="75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L’expérience RAM manque encore d’une dimension digitale unifiée.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6850523" y="9163050"/>
            <a:ext cx="1437477" cy="8952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355"/>
              </a:lnSpc>
              <a:spcBef>
                <a:spcPct val="0"/>
              </a:spcBef>
            </a:pPr>
            <a:r>
              <a:rPr lang="en-US" b="true" sz="5253" spc="147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2</a:t>
            </a:r>
          </a:p>
        </p:txBody>
      </p:sp>
      <p:sp>
        <p:nvSpPr>
          <p:cNvPr name="Freeform 39" id="39"/>
          <p:cNvSpPr/>
          <p:nvPr/>
        </p:nvSpPr>
        <p:spPr>
          <a:xfrm flipH="false" flipV="false" rot="0">
            <a:off x="16194577" y="0"/>
            <a:ext cx="1794986" cy="1794986"/>
          </a:xfrm>
          <a:custGeom>
            <a:avLst/>
            <a:gdLst/>
            <a:ahLst/>
            <a:cxnLst/>
            <a:rect r="r" b="b" t="t" l="l"/>
            <a:pathLst>
              <a:path h="1794986" w="1794986">
                <a:moveTo>
                  <a:pt x="0" y="0"/>
                </a:moveTo>
                <a:lnTo>
                  <a:pt x="1794986" y="0"/>
                </a:lnTo>
                <a:lnTo>
                  <a:pt x="1794986" y="1794986"/>
                </a:lnTo>
                <a:lnTo>
                  <a:pt x="0" y="179498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78787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657677" y="3304894"/>
            <a:ext cx="2311294" cy="2156597"/>
            <a:chOff x="0" y="0"/>
            <a:chExt cx="608736" cy="56799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08736" cy="567993"/>
            </a:xfrm>
            <a:custGeom>
              <a:avLst/>
              <a:gdLst/>
              <a:ahLst/>
              <a:cxnLst/>
              <a:rect r="r" b="b" t="t" l="l"/>
              <a:pathLst>
                <a:path h="567993" w="608736">
                  <a:moveTo>
                    <a:pt x="66992" y="0"/>
                  </a:moveTo>
                  <a:lnTo>
                    <a:pt x="541744" y="0"/>
                  </a:lnTo>
                  <a:cubicBezTo>
                    <a:pt x="578742" y="0"/>
                    <a:pt x="608736" y="29993"/>
                    <a:pt x="608736" y="66992"/>
                  </a:cubicBezTo>
                  <a:lnTo>
                    <a:pt x="608736" y="501001"/>
                  </a:lnTo>
                  <a:cubicBezTo>
                    <a:pt x="608736" y="537999"/>
                    <a:pt x="578742" y="567993"/>
                    <a:pt x="541744" y="567993"/>
                  </a:cubicBezTo>
                  <a:lnTo>
                    <a:pt x="66992" y="567993"/>
                  </a:lnTo>
                  <a:cubicBezTo>
                    <a:pt x="29993" y="567993"/>
                    <a:pt x="0" y="537999"/>
                    <a:pt x="0" y="501001"/>
                  </a:cubicBezTo>
                  <a:lnTo>
                    <a:pt x="0" y="66992"/>
                  </a:lnTo>
                  <a:cubicBezTo>
                    <a:pt x="0" y="29993"/>
                    <a:pt x="29993" y="0"/>
                    <a:pt x="66992" y="0"/>
                  </a:cubicBezTo>
                  <a:close/>
                </a:path>
              </a:pathLst>
            </a:custGeom>
            <a:solidFill>
              <a:srgbClr val="D9D9D9">
                <a:alpha val="11765"/>
              </a:srgbClr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608736" cy="60609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765120" y="9501487"/>
            <a:ext cx="1311515" cy="1107145"/>
            <a:chOff x="0" y="0"/>
            <a:chExt cx="345420" cy="291594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45420" cy="291594"/>
            </a:xfrm>
            <a:custGeom>
              <a:avLst/>
              <a:gdLst/>
              <a:ahLst/>
              <a:cxnLst/>
              <a:rect r="r" b="b" t="t" l="l"/>
              <a:pathLst>
                <a:path h="291594" w="345420">
                  <a:moveTo>
                    <a:pt x="118061" y="0"/>
                  </a:moveTo>
                  <a:lnTo>
                    <a:pt x="227359" y="0"/>
                  </a:lnTo>
                  <a:cubicBezTo>
                    <a:pt x="258671" y="0"/>
                    <a:pt x="288700" y="12439"/>
                    <a:pt x="310840" y="34579"/>
                  </a:cubicBezTo>
                  <a:cubicBezTo>
                    <a:pt x="332981" y="56720"/>
                    <a:pt x="345420" y="86749"/>
                    <a:pt x="345420" y="118061"/>
                  </a:cubicBezTo>
                  <a:lnTo>
                    <a:pt x="345420" y="173533"/>
                  </a:lnTo>
                  <a:cubicBezTo>
                    <a:pt x="345420" y="204845"/>
                    <a:pt x="332981" y="234874"/>
                    <a:pt x="310840" y="257015"/>
                  </a:cubicBezTo>
                  <a:cubicBezTo>
                    <a:pt x="288700" y="279155"/>
                    <a:pt x="258671" y="291594"/>
                    <a:pt x="227359" y="291594"/>
                  </a:cubicBezTo>
                  <a:lnTo>
                    <a:pt x="118061" y="291594"/>
                  </a:lnTo>
                  <a:cubicBezTo>
                    <a:pt x="86749" y="291594"/>
                    <a:pt x="56720" y="279155"/>
                    <a:pt x="34579" y="257015"/>
                  </a:cubicBezTo>
                  <a:cubicBezTo>
                    <a:pt x="12439" y="234874"/>
                    <a:pt x="0" y="204845"/>
                    <a:pt x="0" y="173533"/>
                  </a:cubicBezTo>
                  <a:lnTo>
                    <a:pt x="0" y="118061"/>
                  </a:lnTo>
                  <a:cubicBezTo>
                    <a:pt x="0" y="86749"/>
                    <a:pt x="12439" y="56720"/>
                    <a:pt x="34579" y="34579"/>
                  </a:cubicBezTo>
                  <a:cubicBezTo>
                    <a:pt x="56720" y="12439"/>
                    <a:pt x="86749" y="0"/>
                    <a:pt x="118061" y="0"/>
                  </a:cubicBezTo>
                  <a:close/>
                </a:path>
              </a:pathLst>
            </a:custGeom>
            <a:solidFill>
              <a:srgbClr val="D9D9D9">
                <a:alpha val="11765"/>
              </a:srgbClr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345420" cy="32969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0462370" y="8557674"/>
            <a:ext cx="2874270" cy="1231189"/>
            <a:chOff x="0" y="0"/>
            <a:chExt cx="757009" cy="324264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757009" cy="324264"/>
            </a:xfrm>
            <a:custGeom>
              <a:avLst/>
              <a:gdLst/>
              <a:ahLst/>
              <a:cxnLst/>
              <a:rect r="r" b="b" t="t" l="l"/>
              <a:pathLst>
                <a:path h="324264" w="757009">
                  <a:moveTo>
                    <a:pt x="53871" y="0"/>
                  </a:moveTo>
                  <a:lnTo>
                    <a:pt x="703139" y="0"/>
                  </a:lnTo>
                  <a:cubicBezTo>
                    <a:pt x="717426" y="0"/>
                    <a:pt x="731128" y="5676"/>
                    <a:pt x="741231" y="15778"/>
                  </a:cubicBezTo>
                  <a:cubicBezTo>
                    <a:pt x="751334" y="25881"/>
                    <a:pt x="757009" y="39583"/>
                    <a:pt x="757009" y="53871"/>
                  </a:cubicBezTo>
                  <a:lnTo>
                    <a:pt x="757009" y="270393"/>
                  </a:lnTo>
                  <a:cubicBezTo>
                    <a:pt x="757009" y="284681"/>
                    <a:pt x="751334" y="298383"/>
                    <a:pt x="741231" y="308485"/>
                  </a:cubicBezTo>
                  <a:cubicBezTo>
                    <a:pt x="731128" y="318588"/>
                    <a:pt x="717426" y="324264"/>
                    <a:pt x="703139" y="324264"/>
                  </a:cubicBezTo>
                  <a:lnTo>
                    <a:pt x="53871" y="324264"/>
                  </a:lnTo>
                  <a:cubicBezTo>
                    <a:pt x="39583" y="324264"/>
                    <a:pt x="25881" y="318588"/>
                    <a:pt x="15778" y="308485"/>
                  </a:cubicBezTo>
                  <a:cubicBezTo>
                    <a:pt x="5676" y="298383"/>
                    <a:pt x="0" y="284681"/>
                    <a:pt x="0" y="270393"/>
                  </a:cubicBezTo>
                  <a:lnTo>
                    <a:pt x="0" y="53871"/>
                  </a:lnTo>
                  <a:cubicBezTo>
                    <a:pt x="0" y="39583"/>
                    <a:pt x="5676" y="25881"/>
                    <a:pt x="15778" y="15778"/>
                  </a:cubicBezTo>
                  <a:cubicBezTo>
                    <a:pt x="25881" y="5676"/>
                    <a:pt x="39583" y="0"/>
                    <a:pt x="53871" y="0"/>
                  </a:cubicBezTo>
                  <a:close/>
                </a:path>
              </a:pathLst>
            </a:custGeom>
            <a:solidFill>
              <a:srgbClr val="D9D9D9">
                <a:alpha val="11765"/>
              </a:srgbClr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757009" cy="3623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3572193" y="4756994"/>
            <a:ext cx="3963984" cy="3201628"/>
            <a:chOff x="0" y="0"/>
            <a:chExt cx="1044012" cy="843227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044012" cy="843227"/>
            </a:xfrm>
            <a:custGeom>
              <a:avLst/>
              <a:gdLst/>
              <a:ahLst/>
              <a:cxnLst/>
              <a:rect r="r" b="b" t="t" l="l"/>
              <a:pathLst>
                <a:path h="843227" w="1044012">
                  <a:moveTo>
                    <a:pt x="39061" y="0"/>
                  </a:moveTo>
                  <a:lnTo>
                    <a:pt x="1004951" y="0"/>
                  </a:lnTo>
                  <a:cubicBezTo>
                    <a:pt x="1026524" y="0"/>
                    <a:pt x="1044012" y="17488"/>
                    <a:pt x="1044012" y="39061"/>
                  </a:cubicBezTo>
                  <a:lnTo>
                    <a:pt x="1044012" y="804166"/>
                  </a:lnTo>
                  <a:cubicBezTo>
                    <a:pt x="1044012" y="825739"/>
                    <a:pt x="1026524" y="843227"/>
                    <a:pt x="1004951" y="843227"/>
                  </a:cubicBezTo>
                  <a:lnTo>
                    <a:pt x="39061" y="843227"/>
                  </a:lnTo>
                  <a:cubicBezTo>
                    <a:pt x="17488" y="843227"/>
                    <a:pt x="0" y="825739"/>
                    <a:pt x="0" y="804166"/>
                  </a:cubicBezTo>
                  <a:lnTo>
                    <a:pt x="0" y="39061"/>
                  </a:lnTo>
                  <a:cubicBezTo>
                    <a:pt x="0" y="17488"/>
                    <a:pt x="17488" y="0"/>
                    <a:pt x="39061" y="0"/>
                  </a:cubicBezTo>
                  <a:close/>
                </a:path>
              </a:pathLst>
            </a:custGeom>
            <a:solidFill>
              <a:srgbClr val="D9D9D9">
                <a:alpha val="11765"/>
              </a:srgbClr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1044012" cy="88132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8433958" y="5780881"/>
            <a:ext cx="6118328" cy="1606061"/>
          </a:xfrm>
          <a:custGeom>
            <a:avLst/>
            <a:gdLst/>
            <a:ahLst/>
            <a:cxnLst/>
            <a:rect r="r" b="b" t="t" l="l"/>
            <a:pathLst>
              <a:path h="1606061" w="6118328">
                <a:moveTo>
                  <a:pt x="0" y="0"/>
                </a:moveTo>
                <a:lnTo>
                  <a:pt x="6118328" y="0"/>
                </a:lnTo>
                <a:lnTo>
                  <a:pt x="6118328" y="1606061"/>
                </a:lnTo>
                <a:lnTo>
                  <a:pt x="0" y="160606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0000"/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16194577" y="0"/>
            <a:ext cx="1794986" cy="1794986"/>
          </a:xfrm>
          <a:custGeom>
            <a:avLst/>
            <a:gdLst/>
            <a:ahLst/>
            <a:cxnLst/>
            <a:rect r="r" b="b" t="t" l="l"/>
            <a:pathLst>
              <a:path h="1794986" w="1794986">
                <a:moveTo>
                  <a:pt x="0" y="0"/>
                </a:moveTo>
                <a:lnTo>
                  <a:pt x="1794986" y="0"/>
                </a:lnTo>
                <a:lnTo>
                  <a:pt x="1794986" y="1794986"/>
                </a:lnTo>
                <a:lnTo>
                  <a:pt x="0" y="179498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459520" y="448366"/>
            <a:ext cx="14867616" cy="11513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453"/>
              </a:lnSpc>
            </a:pPr>
            <a:r>
              <a:rPr lang="en-US" b="true" sz="4453" spc="-111">
                <a:solidFill>
                  <a:srgbClr val="CA0909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RAM MSR – L’ASSISTANT DIGITAL DU PASSAGER ROYAL AIR MAROC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1028700" y="1771593"/>
            <a:ext cx="4429363" cy="2444773"/>
            <a:chOff x="0" y="0"/>
            <a:chExt cx="5905817" cy="3259698"/>
          </a:xfrm>
        </p:grpSpPr>
        <p:grpSp>
          <p:nvGrpSpPr>
            <p:cNvPr name="Group 18" id="18"/>
            <p:cNvGrpSpPr/>
            <p:nvPr/>
          </p:nvGrpSpPr>
          <p:grpSpPr>
            <a:xfrm rot="0">
              <a:off x="0" y="0"/>
              <a:ext cx="5905817" cy="3259698"/>
              <a:chOff x="0" y="0"/>
              <a:chExt cx="1166581" cy="643891"/>
            </a:xfrm>
          </p:grpSpPr>
          <p:sp>
            <p:nvSpPr>
              <p:cNvPr name="Freeform 19" id="19"/>
              <p:cNvSpPr/>
              <p:nvPr/>
            </p:nvSpPr>
            <p:spPr>
              <a:xfrm flipH="false" flipV="false" rot="0">
                <a:off x="0" y="0"/>
                <a:ext cx="1166581" cy="643891"/>
              </a:xfrm>
              <a:custGeom>
                <a:avLst/>
                <a:gdLst/>
                <a:ahLst/>
                <a:cxnLst/>
                <a:rect r="r" b="b" t="t" l="l"/>
                <a:pathLst>
                  <a:path h="643891" w="1166581">
                    <a:moveTo>
                      <a:pt x="34957" y="0"/>
                    </a:moveTo>
                    <a:lnTo>
                      <a:pt x="1131624" y="0"/>
                    </a:lnTo>
                    <a:cubicBezTo>
                      <a:pt x="1140895" y="0"/>
                      <a:pt x="1149787" y="3683"/>
                      <a:pt x="1156342" y="10239"/>
                    </a:cubicBezTo>
                    <a:cubicBezTo>
                      <a:pt x="1162898" y="16795"/>
                      <a:pt x="1166581" y="25686"/>
                      <a:pt x="1166581" y="34957"/>
                    </a:cubicBezTo>
                    <a:lnTo>
                      <a:pt x="1166581" y="608934"/>
                    </a:lnTo>
                    <a:cubicBezTo>
                      <a:pt x="1166581" y="628240"/>
                      <a:pt x="1150930" y="643891"/>
                      <a:pt x="1131624" y="643891"/>
                    </a:cubicBezTo>
                    <a:lnTo>
                      <a:pt x="34957" y="643891"/>
                    </a:lnTo>
                    <a:cubicBezTo>
                      <a:pt x="15651" y="643891"/>
                      <a:pt x="0" y="628240"/>
                      <a:pt x="0" y="608934"/>
                    </a:cubicBezTo>
                    <a:lnTo>
                      <a:pt x="0" y="34957"/>
                    </a:lnTo>
                    <a:cubicBezTo>
                      <a:pt x="0" y="15651"/>
                      <a:pt x="15651" y="0"/>
                      <a:pt x="34957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sq">
                <a:solidFill>
                  <a:srgbClr val="FFFFFF"/>
                </a:solidFill>
                <a:prstDash val="solid"/>
                <a:miter/>
              </a:ln>
            </p:spPr>
          </p:sp>
          <p:sp>
            <p:nvSpPr>
              <p:cNvPr name="TextBox 20" id="20"/>
              <p:cNvSpPr txBox="true"/>
              <p:nvPr/>
            </p:nvSpPr>
            <p:spPr>
              <a:xfrm>
                <a:off x="0" y="-38100"/>
                <a:ext cx="1166581" cy="68199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359"/>
                  </a:lnSpc>
                </a:pPr>
              </a:p>
            </p:txBody>
          </p:sp>
        </p:grpSp>
        <p:sp>
          <p:nvSpPr>
            <p:cNvPr name="TextBox 21" id="21"/>
            <p:cNvSpPr txBox="true"/>
            <p:nvPr/>
          </p:nvSpPr>
          <p:spPr>
            <a:xfrm rot="0">
              <a:off x="311656" y="479880"/>
              <a:ext cx="5325183" cy="243840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3749"/>
                </a:lnSpc>
              </a:pPr>
              <a:r>
                <a:rPr lang="en-US" b="true" sz="2499" spc="67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Navigation intelligente : guidage en temps réel dans les terminaux.</a:t>
              </a:r>
            </a:p>
            <a:p>
              <a:pPr algn="just">
                <a:lnSpc>
                  <a:spcPts val="3749"/>
                </a:lnSpc>
              </a:pP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7572907" y="1771593"/>
            <a:ext cx="3695940" cy="2520973"/>
            <a:chOff x="0" y="0"/>
            <a:chExt cx="4927920" cy="3361298"/>
          </a:xfrm>
        </p:grpSpPr>
        <p:grpSp>
          <p:nvGrpSpPr>
            <p:cNvPr name="Group 23" id="23"/>
            <p:cNvGrpSpPr/>
            <p:nvPr/>
          </p:nvGrpSpPr>
          <p:grpSpPr>
            <a:xfrm rot="0">
              <a:off x="0" y="0"/>
              <a:ext cx="4927920" cy="3361298"/>
              <a:chOff x="0" y="0"/>
              <a:chExt cx="973416" cy="663960"/>
            </a:xfrm>
          </p:grpSpPr>
          <p:sp>
            <p:nvSpPr>
              <p:cNvPr name="Freeform 24" id="24"/>
              <p:cNvSpPr/>
              <p:nvPr/>
            </p:nvSpPr>
            <p:spPr>
              <a:xfrm flipH="false" flipV="false" rot="0">
                <a:off x="0" y="0"/>
                <a:ext cx="973416" cy="663960"/>
              </a:xfrm>
              <a:custGeom>
                <a:avLst/>
                <a:gdLst/>
                <a:ahLst/>
                <a:cxnLst/>
                <a:rect r="r" b="b" t="t" l="l"/>
                <a:pathLst>
                  <a:path h="663960" w="973416">
                    <a:moveTo>
                      <a:pt x="41894" y="0"/>
                    </a:moveTo>
                    <a:lnTo>
                      <a:pt x="931522" y="0"/>
                    </a:lnTo>
                    <a:cubicBezTo>
                      <a:pt x="954660" y="0"/>
                      <a:pt x="973416" y="18757"/>
                      <a:pt x="973416" y="41894"/>
                    </a:cubicBezTo>
                    <a:lnTo>
                      <a:pt x="973416" y="622066"/>
                    </a:lnTo>
                    <a:cubicBezTo>
                      <a:pt x="973416" y="645203"/>
                      <a:pt x="954660" y="663960"/>
                      <a:pt x="931522" y="663960"/>
                    </a:cubicBezTo>
                    <a:lnTo>
                      <a:pt x="41894" y="663960"/>
                    </a:lnTo>
                    <a:cubicBezTo>
                      <a:pt x="18757" y="663960"/>
                      <a:pt x="0" y="645203"/>
                      <a:pt x="0" y="622066"/>
                    </a:cubicBezTo>
                    <a:lnTo>
                      <a:pt x="0" y="41894"/>
                    </a:lnTo>
                    <a:cubicBezTo>
                      <a:pt x="0" y="18757"/>
                      <a:pt x="18757" y="0"/>
                      <a:pt x="41894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sq">
                <a:solidFill>
                  <a:srgbClr val="FFFFFF"/>
                </a:solidFill>
                <a:prstDash val="solid"/>
                <a:miter/>
              </a:ln>
            </p:spPr>
          </p:sp>
          <p:sp>
            <p:nvSpPr>
              <p:cNvPr name="TextBox 25" id="25"/>
              <p:cNvSpPr txBox="true"/>
              <p:nvPr/>
            </p:nvSpPr>
            <p:spPr>
              <a:xfrm>
                <a:off x="0" y="-38100"/>
                <a:ext cx="973416" cy="70206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359"/>
                  </a:lnSpc>
                </a:pPr>
              </a:p>
            </p:txBody>
          </p:sp>
        </p:grpSp>
        <p:sp>
          <p:nvSpPr>
            <p:cNvPr name="TextBox 26" id="26"/>
            <p:cNvSpPr txBox="true"/>
            <p:nvPr/>
          </p:nvSpPr>
          <p:spPr>
            <a:xfrm rot="0">
              <a:off x="242246" y="730600"/>
              <a:ext cx="4443428" cy="211010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4349"/>
                </a:lnSpc>
              </a:pPr>
              <a:r>
                <a:rPr lang="en-US" b="true" sz="2899" spc="78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Carte interactive de l’aéroport.</a:t>
              </a:r>
            </a:p>
            <a:p>
              <a:pPr algn="just">
                <a:lnSpc>
                  <a:spcPts val="4349"/>
                </a:lnSpc>
              </a:pP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12965033" y="1771593"/>
            <a:ext cx="4294267" cy="2873398"/>
            <a:chOff x="0" y="0"/>
            <a:chExt cx="5725689" cy="3831198"/>
          </a:xfrm>
        </p:grpSpPr>
        <p:grpSp>
          <p:nvGrpSpPr>
            <p:cNvPr name="Group 28" id="28"/>
            <p:cNvGrpSpPr/>
            <p:nvPr/>
          </p:nvGrpSpPr>
          <p:grpSpPr>
            <a:xfrm rot="0">
              <a:off x="0" y="0"/>
              <a:ext cx="5725689" cy="3831198"/>
              <a:chOff x="0" y="0"/>
              <a:chExt cx="1131000" cy="756780"/>
            </a:xfrm>
          </p:grpSpPr>
          <p:sp>
            <p:nvSpPr>
              <p:cNvPr name="Freeform 29" id="29"/>
              <p:cNvSpPr/>
              <p:nvPr/>
            </p:nvSpPr>
            <p:spPr>
              <a:xfrm flipH="false" flipV="false" rot="0">
                <a:off x="0" y="0"/>
                <a:ext cx="1131000" cy="756780"/>
              </a:xfrm>
              <a:custGeom>
                <a:avLst/>
                <a:gdLst/>
                <a:ahLst/>
                <a:cxnLst/>
                <a:rect r="r" b="b" t="t" l="l"/>
                <a:pathLst>
                  <a:path h="756780" w="1131000">
                    <a:moveTo>
                      <a:pt x="36057" y="0"/>
                    </a:moveTo>
                    <a:lnTo>
                      <a:pt x="1094943" y="0"/>
                    </a:lnTo>
                    <a:cubicBezTo>
                      <a:pt x="1114857" y="0"/>
                      <a:pt x="1131000" y="16143"/>
                      <a:pt x="1131000" y="36057"/>
                    </a:cubicBezTo>
                    <a:lnTo>
                      <a:pt x="1131000" y="720723"/>
                    </a:lnTo>
                    <a:cubicBezTo>
                      <a:pt x="1131000" y="740637"/>
                      <a:pt x="1114857" y="756780"/>
                      <a:pt x="1094943" y="756780"/>
                    </a:cubicBezTo>
                    <a:lnTo>
                      <a:pt x="36057" y="756780"/>
                    </a:lnTo>
                    <a:cubicBezTo>
                      <a:pt x="16143" y="756780"/>
                      <a:pt x="0" y="740637"/>
                      <a:pt x="0" y="720723"/>
                    </a:cubicBezTo>
                    <a:lnTo>
                      <a:pt x="0" y="36057"/>
                    </a:lnTo>
                    <a:cubicBezTo>
                      <a:pt x="0" y="16143"/>
                      <a:pt x="16143" y="0"/>
                      <a:pt x="36057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sq">
                <a:solidFill>
                  <a:srgbClr val="FFFFFF"/>
                </a:solidFill>
                <a:prstDash val="solid"/>
                <a:miter/>
              </a:ln>
            </p:spPr>
          </p:sp>
          <p:sp>
            <p:nvSpPr>
              <p:cNvPr name="TextBox 30" id="30"/>
              <p:cNvSpPr txBox="true"/>
              <p:nvPr/>
            </p:nvSpPr>
            <p:spPr>
              <a:xfrm>
                <a:off x="0" y="-38100"/>
                <a:ext cx="1131000" cy="79488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359"/>
                  </a:lnSpc>
                </a:pPr>
              </a:p>
            </p:txBody>
          </p:sp>
        </p:grpSp>
        <p:sp>
          <p:nvSpPr>
            <p:cNvPr name="TextBox 31" id="31"/>
            <p:cNvSpPr txBox="true"/>
            <p:nvPr/>
          </p:nvSpPr>
          <p:spPr>
            <a:xfrm rot="0">
              <a:off x="281463" y="314567"/>
              <a:ext cx="5162764" cy="351663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3599"/>
                </a:lnSpc>
              </a:pPr>
              <a:r>
                <a:rPr lang="en-US" b="true" sz="2399" spc="64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QR code lié au billet et à l’étiquette bagage ; le passager scanne sa valise pour confirmer qu’elle lui appartient.</a:t>
              </a:r>
            </a:p>
            <a:p>
              <a:pPr algn="just">
                <a:lnSpc>
                  <a:spcPts val="3599"/>
                </a:lnSpc>
              </a:pPr>
            </a:p>
          </p:txBody>
        </p:sp>
      </p:grpSp>
      <p:sp>
        <p:nvSpPr>
          <p:cNvPr name="TextBox 32" id="32"/>
          <p:cNvSpPr txBox="true"/>
          <p:nvPr/>
        </p:nvSpPr>
        <p:spPr>
          <a:xfrm rot="0">
            <a:off x="16817438" y="9159801"/>
            <a:ext cx="1437477" cy="8952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355"/>
              </a:lnSpc>
              <a:spcBef>
                <a:spcPct val="0"/>
              </a:spcBef>
            </a:pPr>
            <a:r>
              <a:rPr lang="en-US" b="true" sz="5253" spc="147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3</a:t>
            </a:r>
          </a:p>
        </p:txBody>
      </p:sp>
      <p:sp>
        <p:nvSpPr>
          <p:cNvPr name="Freeform 33" id="33"/>
          <p:cNvSpPr/>
          <p:nvPr/>
        </p:nvSpPr>
        <p:spPr>
          <a:xfrm flipH="false" flipV="false" rot="0">
            <a:off x="1565421" y="4644992"/>
            <a:ext cx="3355921" cy="5037030"/>
          </a:xfrm>
          <a:custGeom>
            <a:avLst/>
            <a:gdLst/>
            <a:ahLst/>
            <a:cxnLst/>
            <a:rect r="r" b="b" t="t" l="l"/>
            <a:pathLst>
              <a:path h="5037030" w="3355921">
                <a:moveTo>
                  <a:pt x="0" y="0"/>
                </a:moveTo>
                <a:lnTo>
                  <a:pt x="3355921" y="0"/>
                </a:lnTo>
                <a:lnTo>
                  <a:pt x="3355921" y="5037029"/>
                </a:lnTo>
                <a:lnTo>
                  <a:pt x="0" y="503702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34" id="34"/>
          <p:cNvSpPr/>
          <p:nvPr/>
        </p:nvSpPr>
        <p:spPr>
          <a:xfrm flipH="false" flipV="false" rot="0">
            <a:off x="7840368" y="4756994"/>
            <a:ext cx="3161018" cy="4744493"/>
          </a:xfrm>
          <a:custGeom>
            <a:avLst/>
            <a:gdLst/>
            <a:ahLst/>
            <a:cxnLst/>
            <a:rect r="r" b="b" t="t" l="l"/>
            <a:pathLst>
              <a:path h="4744493" w="3161018">
                <a:moveTo>
                  <a:pt x="0" y="0"/>
                </a:moveTo>
                <a:lnTo>
                  <a:pt x="3161018" y="0"/>
                </a:lnTo>
                <a:lnTo>
                  <a:pt x="3161018" y="4744493"/>
                </a:lnTo>
                <a:lnTo>
                  <a:pt x="0" y="474449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35" id="35"/>
          <p:cNvSpPr/>
          <p:nvPr/>
        </p:nvSpPr>
        <p:spPr>
          <a:xfrm flipH="false" flipV="false" rot="0">
            <a:off x="13572193" y="4712056"/>
            <a:ext cx="3382422" cy="5076806"/>
          </a:xfrm>
          <a:custGeom>
            <a:avLst/>
            <a:gdLst/>
            <a:ahLst/>
            <a:cxnLst/>
            <a:rect r="r" b="b" t="t" l="l"/>
            <a:pathLst>
              <a:path h="5076806" w="3382422">
                <a:moveTo>
                  <a:pt x="0" y="0"/>
                </a:moveTo>
                <a:lnTo>
                  <a:pt x="3382423" y="0"/>
                </a:lnTo>
                <a:lnTo>
                  <a:pt x="3382423" y="5076807"/>
                </a:lnTo>
                <a:lnTo>
                  <a:pt x="0" y="507680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78787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996044" y="1374475"/>
            <a:ext cx="14816072" cy="8220226"/>
            <a:chOff x="0" y="0"/>
            <a:chExt cx="19754763" cy="10960302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2097595" y="4611670"/>
              <a:ext cx="4494041" cy="3459494"/>
              <a:chOff x="0" y="0"/>
              <a:chExt cx="887712" cy="683357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887712" cy="683357"/>
              </a:xfrm>
              <a:custGeom>
                <a:avLst/>
                <a:gdLst/>
                <a:ahLst/>
                <a:cxnLst/>
                <a:rect r="r" b="b" t="t" l="l"/>
                <a:pathLst>
                  <a:path h="683357" w="887712">
                    <a:moveTo>
                      <a:pt x="45939" y="0"/>
                    </a:moveTo>
                    <a:lnTo>
                      <a:pt x="841773" y="0"/>
                    </a:lnTo>
                    <a:cubicBezTo>
                      <a:pt x="867144" y="0"/>
                      <a:pt x="887712" y="20568"/>
                      <a:pt x="887712" y="45939"/>
                    </a:cubicBezTo>
                    <a:lnTo>
                      <a:pt x="887712" y="637418"/>
                    </a:lnTo>
                    <a:cubicBezTo>
                      <a:pt x="887712" y="662789"/>
                      <a:pt x="867144" y="683357"/>
                      <a:pt x="841773" y="683357"/>
                    </a:cubicBezTo>
                    <a:lnTo>
                      <a:pt x="45939" y="683357"/>
                    </a:lnTo>
                    <a:cubicBezTo>
                      <a:pt x="20568" y="683357"/>
                      <a:pt x="0" y="662789"/>
                      <a:pt x="0" y="637418"/>
                    </a:cubicBezTo>
                    <a:lnTo>
                      <a:pt x="0" y="45939"/>
                    </a:lnTo>
                    <a:cubicBezTo>
                      <a:pt x="0" y="20568"/>
                      <a:pt x="20568" y="0"/>
                      <a:pt x="45939" y="0"/>
                    </a:cubicBezTo>
                    <a:close/>
                  </a:path>
                </a:pathLst>
              </a:custGeom>
              <a:solidFill>
                <a:srgbClr val="D9D9D9">
                  <a:alpha val="11765"/>
                </a:srgbClr>
              </a:solidFill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38100"/>
                <a:ext cx="887712" cy="72145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359"/>
                  </a:lnSpc>
                </a:pP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0" y="5477289"/>
              <a:ext cx="1526095" cy="1188385"/>
              <a:chOff x="0" y="0"/>
              <a:chExt cx="301451" cy="234743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301451" cy="234743"/>
              </a:xfrm>
              <a:custGeom>
                <a:avLst/>
                <a:gdLst/>
                <a:ahLst/>
                <a:cxnLst/>
                <a:rect r="r" b="b" t="t" l="l"/>
                <a:pathLst>
                  <a:path h="234743" w="301451">
                    <a:moveTo>
                      <a:pt x="117371" y="0"/>
                    </a:moveTo>
                    <a:lnTo>
                      <a:pt x="184080" y="0"/>
                    </a:lnTo>
                    <a:cubicBezTo>
                      <a:pt x="248902" y="0"/>
                      <a:pt x="301451" y="52549"/>
                      <a:pt x="301451" y="117371"/>
                    </a:cubicBezTo>
                    <a:lnTo>
                      <a:pt x="301451" y="117371"/>
                    </a:lnTo>
                    <a:cubicBezTo>
                      <a:pt x="301451" y="182194"/>
                      <a:pt x="248902" y="234743"/>
                      <a:pt x="184080" y="234743"/>
                    </a:cubicBezTo>
                    <a:lnTo>
                      <a:pt x="117371" y="234743"/>
                    </a:lnTo>
                    <a:cubicBezTo>
                      <a:pt x="52549" y="234743"/>
                      <a:pt x="0" y="182194"/>
                      <a:pt x="0" y="117371"/>
                    </a:cubicBezTo>
                    <a:lnTo>
                      <a:pt x="0" y="117371"/>
                    </a:lnTo>
                    <a:cubicBezTo>
                      <a:pt x="0" y="52549"/>
                      <a:pt x="52549" y="0"/>
                      <a:pt x="117371" y="0"/>
                    </a:cubicBezTo>
                    <a:close/>
                  </a:path>
                </a:pathLst>
              </a:custGeom>
              <a:solidFill>
                <a:srgbClr val="D9D9D9">
                  <a:alpha val="11765"/>
                </a:srgbClr>
              </a:solidFill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38100"/>
                <a:ext cx="301451" cy="27284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359"/>
                  </a:lnSpc>
                </a:pP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0">
              <a:off x="10360137" y="9161130"/>
              <a:ext cx="1938612" cy="1799172"/>
              <a:chOff x="0" y="0"/>
              <a:chExt cx="382936" cy="355392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382936" cy="355392"/>
              </a:xfrm>
              <a:custGeom>
                <a:avLst/>
                <a:gdLst/>
                <a:ahLst/>
                <a:cxnLst/>
                <a:rect r="r" b="b" t="t" l="l"/>
                <a:pathLst>
                  <a:path h="355392" w="382936">
                    <a:moveTo>
                      <a:pt x="106494" y="0"/>
                    </a:moveTo>
                    <a:lnTo>
                      <a:pt x="276441" y="0"/>
                    </a:lnTo>
                    <a:cubicBezTo>
                      <a:pt x="335257" y="0"/>
                      <a:pt x="382936" y="47679"/>
                      <a:pt x="382936" y="106494"/>
                    </a:cubicBezTo>
                    <a:lnTo>
                      <a:pt x="382936" y="248898"/>
                    </a:lnTo>
                    <a:cubicBezTo>
                      <a:pt x="382936" y="277142"/>
                      <a:pt x="371716" y="304229"/>
                      <a:pt x="351744" y="324200"/>
                    </a:cubicBezTo>
                    <a:cubicBezTo>
                      <a:pt x="331773" y="344172"/>
                      <a:pt x="304685" y="355392"/>
                      <a:pt x="276441" y="355392"/>
                    </a:cubicBezTo>
                    <a:lnTo>
                      <a:pt x="106494" y="355392"/>
                    </a:lnTo>
                    <a:cubicBezTo>
                      <a:pt x="47679" y="355392"/>
                      <a:pt x="0" y="307713"/>
                      <a:pt x="0" y="248898"/>
                    </a:cubicBezTo>
                    <a:lnTo>
                      <a:pt x="0" y="106494"/>
                    </a:lnTo>
                    <a:cubicBezTo>
                      <a:pt x="0" y="47679"/>
                      <a:pt x="47679" y="0"/>
                      <a:pt x="106494" y="0"/>
                    </a:cubicBezTo>
                    <a:close/>
                  </a:path>
                </a:pathLst>
              </a:custGeom>
              <a:solidFill>
                <a:srgbClr val="D9D9D9">
                  <a:alpha val="11765"/>
                </a:srgbClr>
              </a:solidFill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38100"/>
                <a:ext cx="382936" cy="39349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359"/>
                  </a:lnSpc>
                </a:pPr>
              </a:p>
            </p:txBody>
          </p:sp>
        </p:grpSp>
        <p:grpSp>
          <p:nvGrpSpPr>
            <p:cNvPr name="Group 12" id="12"/>
            <p:cNvGrpSpPr/>
            <p:nvPr/>
          </p:nvGrpSpPr>
          <p:grpSpPr>
            <a:xfrm rot="0">
              <a:off x="8704314" y="0"/>
              <a:ext cx="6911069" cy="7119769"/>
              <a:chOff x="0" y="0"/>
              <a:chExt cx="1365149" cy="1406374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1365149" cy="1406374"/>
              </a:xfrm>
              <a:custGeom>
                <a:avLst/>
                <a:gdLst/>
                <a:ahLst/>
                <a:cxnLst/>
                <a:rect r="r" b="b" t="t" l="l"/>
                <a:pathLst>
                  <a:path h="1406374" w="1365149">
                    <a:moveTo>
                      <a:pt x="29873" y="0"/>
                    </a:moveTo>
                    <a:lnTo>
                      <a:pt x="1335277" y="0"/>
                    </a:lnTo>
                    <a:cubicBezTo>
                      <a:pt x="1351775" y="0"/>
                      <a:pt x="1365149" y="13374"/>
                      <a:pt x="1365149" y="29873"/>
                    </a:cubicBezTo>
                    <a:lnTo>
                      <a:pt x="1365149" y="1376502"/>
                    </a:lnTo>
                    <a:cubicBezTo>
                      <a:pt x="1365149" y="1393000"/>
                      <a:pt x="1351775" y="1406374"/>
                      <a:pt x="1335277" y="1406374"/>
                    </a:cubicBezTo>
                    <a:lnTo>
                      <a:pt x="29873" y="1406374"/>
                    </a:lnTo>
                    <a:cubicBezTo>
                      <a:pt x="13374" y="1406374"/>
                      <a:pt x="0" y="1393000"/>
                      <a:pt x="0" y="1376502"/>
                    </a:cubicBezTo>
                    <a:lnTo>
                      <a:pt x="0" y="29873"/>
                    </a:lnTo>
                    <a:cubicBezTo>
                      <a:pt x="0" y="13374"/>
                      <a:pt x="13374" y="0"/>
                      <a:pt x="29873" y="0"/>
                    </a:cubicBezTo>
                    <a:close/>
                  </a:path>
                </a:pathLst>
              </a:custGeom>
              <a:solidFill>
                <a:srgbClr val="D9D9D9">
                  <a:alpha val="11765"/>
                </a:srgbClr>
              </a:solidFill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0" y="-38100"/>
                <a:ext cx="1365149" cy="1444474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359"/>
                  </a:lnSpc>
                </a:pPr>
              </a:p>
            </p:txBody>
          </p:sp>
        </p:grpSp>
        <p:grpSp>
          <p:nvGrpSpPr>
            <p:cNvPr name="Group 15" id="15"/>
            <p:cNvGrpSpPr/>
            <p:nvPr/>
          </p:nvGrpSpPr>
          <p:grpSpPr>
            <a:xfrm rot="0">
              <a:off x="17231573" y="2744770"/>
              <a:ext cx="2523190" cy="3550952"/>
              <a:chOff x="0" y="0"/>
              <a:chExt cx="498408" cy="701423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498408" cy="701423"/>
              </a:xfrm>
              <a:custGeom>
                <a:avLst/>
                <a:gdLst/>
                <a:ahLst/>
                <a:cxnLst/>
                <a:rect r="r" b="b" t="t" l="l"/>
                <a:pathLst>
                  <a:path h="701423" w="498408">
                    <a:moveTo>
                      <a:pt x="81822" y="0"/>
                    </a:moveTo>
                    <a:lnTo>
                      <a:pt x="416586" y="0"/>
                    </a:lnTo>
                    <a:cubicBezTo>
                      <a:pt x="461775" y="0"/>
                      <a:pt x="498408" y="36633"/>
                      <a:pt x="498408" y="81822"/>
                    </a:cubicBezTo>
                    <a:lnTo>
                      <a:pt x="498408" y="619601"/>
                    </a:lnTo>
                    <a:cubicBezTo>
                      <a:pt x="498408" y="641302"/>
                      <a:pt x="489787" y="662113"/>
                      <a:pt x="474443" y="677458"/>
                    </a:cubicBezTo>
                    <a:cubicBezTo>
                      <a:pt x="459098" y="692802"/>
                      <a:pt x="438287" y="701423"/>
                      <a:pt x="416586" y="701423"/>
                    </a:cubicBezTo>
                    <a:lnTo>
                      <a:pt x="81822" y="701423"/>
                    </a:lnTo>
                    <a:cubicBezTo>
                      <a:pt x="60121" y="701423"/>
                      <a:pt x="39309" y="692802"/>
                      <a:pt x="23965" y="677458"/>
                    </a:cubicBezTo>
                    <a:cubicBezTo>
                      <a:pt x="8620" y="662113"/>
                      <a:pt x="0" y="641302"/>
                      <a:pt x="0" y="619601"/>
                    </a:cubicBezTo>
                    <a:lnTo>
                      <a:pt x="0" y="81822"/>
                    </a:lnTo>
                    <a:cubicBezTo>
                      <a:pt x="0" y="60121"/>
                      <a:pt x="8620" y="39309"/>
                      <a:pt x="23965" y="23965"/>
                    </a:cubicBezTo>
                    <a:cubicBezTo>
                      <a:pt x="39309" y="8620"/>
                      <a:pt x="60121" y="0"/>
                      <a:pt x="81822" y="0"/>
                    </a:cubicBezTo>
                    <a:close/>
                  </a:path>
                </a:pathLst>
              </a:custGeom>
              <a:solidFill>
                <a:srgbClr val="D9D9D9">
                  <a:alpha val="11765"/>
                </a:srgbClr>
              </a:solidFill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0" y="-38100"/>
                <a:ext cx="498408" cy="73952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359"/>
                  </a:lnSpc>
                </a:pPr>
              </a:p>
            </p:txBody>
          </p:sp>
        </p:grpSp>
      </p:grpSp>
      <p:sp>
        <p:nvSpPr>
          <p:cNvPr name="Freeform 18" id="18"/>
          <p:cNvSpPr/>
          <p:nvPr/>
        </p:nvSpPr>
        <p:spPr>
          <a:xfrm flipH="false" flipV="false" rot="0">
            <a:off x="6747809" y="4261508"/>
            <a:ext cx="5067300" cy="1330166"/>
          </a:xfrm>
          <a:custGeom>
            <a:avLst/>
            <a:gdLst/>
            <a:ahLst/>
            <a:cxnLst/>
            <a:rect r="r" b="b" t="t" l="l"/>
            <a:pathLst>
              <a:path h="1330166" w="5067300">
                <a:moveTo>
                  <a:pt x="0" y="0"/>
                </a:moveTo>
                <a:lnTo>
                  <a:pt x="5067300" y="0"/>
                </a:lnTo>
                <a:lnTo>
                  <a:pt x="5067300" y="1330166"/>
                </a:lnTo>
                <a:lnTo>
                  <a:pt x="0" y="13301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0000"/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12177074" y="4317373"/>
            <a:ext cx="4650300" cy="1220704"/>
          </a:xfrm>
          <a:custGeom>
            <a:avLst/>
            <a:gdLst/>
            <a:ahLst/>
            <a:cxnLst/>
            <a:rect r="r" b="b" t="t" l="l"/>
            <a:pathLst>
              <a:path h="1220704" w="4650300">
                <a:moveTo>
                  <a:pt x="0" y="0"/>
                </a:moveTo>
                <a:lnTo>
                  <a:pt x="4650300" y="0"/>
                </a:lnTo>
                <a:lnTo>
                  <a:pt x="4650300" y="1220704"/>
                </a:lnTo>
                <a:lnTo>
                  <a:pt x="0" y="122070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0000"/>
            </a:blip>
            <a:stretch>
              <a:fillRect l="0" t="0" r="0" b="0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1384239" y="643573"/>
            <a:ext cx="15443134" cy="8940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699"/>
              </a:lnSpc>
            </a:pPr>
            <a:r>
              <a:rPr lang="en-US" sz="6699" spc="-167">
                <a:solidFill>
                  <a:srgbClr val="CA0909"/>
                </a:solidFill>
                <a:latin typeface="Archivo Black"/>
                <a:ea typeface="Archivo Black"/>
                <a:cs typeface="Archivo Black"/>
                <a:sym typeface="Archivo Black"/>
              </a:rPr>
              <a:t>VALEUR AJOUTÉE ET IMPACT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5925011" y="4380352"/>
            <a:ext cx="5067300" cy="3403547"/>
            <a:chOff x="0" y="0"/>
            <a:chExt cx="6756400" cy="4538063"/>
          </a:xfrm>
        </p:grpSpPr>
        <p:grpSp>
          <p:nvGrpSpPr>
            <p:cNvPr name="Group 22" id="22"/>
            <p:cNvGrpSpPr/>
            <p:nvPr/>
          </p:nvGrpSpPr>
          <p:grpSpPr>
            <a:xfrm rot="0">
              <a:off x="0" y="0"/>
              <a:ext cx="6756400" cy="4538063"/>
              <a:chOff x="0" y="0"/>
              <a:chExt cx="1334598" cy="896407"/>
            </a:xfrm>
          </p:grpSpPr>
          <p:sp>
            <p:nvSpPr>
              <p:cNvPr name="Freeform 23" id="23"/>
              <p:cNvSpPr/>
              <p:nvPr/>
            </p:nvSpPr>
            <p:spPr>
              <a:xfrm flipH="false" flipV="false" rot="0">
                <a:off x="0" y="0"/>
                <a:ext cx="1334598" cy="896407"/>
              </a:xfrm>
              <a:custGeom>
                <a:avLst/>
                <a:gdLst/>
                <a:ahLst/>
                <a:cxnLst/>
                <a:rect r="r" b="b" t="t" l="l"/>
                <a:pathLst>
                  <a:path h="896407" w="1334598">
                    <a:moveTo>
                      <a:pt x="30556" y="0"/>
                    </a:moveTo>
                    <a:lnTo>
                      <a:pt x="1304041" y="0"/>
                    </a:lnTo>
                    <a:cubicBezTo>
                      <a:pt x="1320917" y="0"/>
                      <a:pt x="1334598" y="13681"/>
                      <a:pt x="1334598" y="30556"/>
                    </a:cubicBezTo>
                    <a:lnTo>
                      <a:pt x="1334598" y="865851"/>
                    </a:lnTo>
                    <a:cubicBezTo>
                      <a:pt x="1334598" y="882727"/>
                      <a:pt x="1320917" y="896407"/>
                      <a:pt x="1304041" y="896407"/>
                    </a:cubicBezTo>
                    <a:lnTo>
                      <a:pt x="30556" y="896407"/>
                    </a:lnTo>
                    <a:cubicBezTo>
                      <a:pt x="22452" y="896407"/>
                      <a:pt x="14680" y="893188"/>
                      <a:pt x="8950" y="887458"/>
                    </a:cubicBezTo>
                    <a:cubicBezTo>
                      <a:pt x="3219" y="881727"/>
                      <a:pt x="0" y="873955"/>
                      <a:pt x="0" y="865851"/>
                    </a:cubicBezTo>
                    <a:lnTo>
                      <a:pt x="0" y="30556"/>
                    </a:lnTo>
                    <a:cubicBezTo>
                      <a:pt x="0" y="13681"/>
                      <a:pt x="13681" y="0"/>
                      <a:pt x="30556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24" id="24"/>
              <p:cNvSpPr txBox="true"/>
              <p:nvPr/>
            </p:nvSpPr>
            <p:spPr>
              <a:xfrm>
                <a:off x="0" y="-38100"/>
                <a:ext cx="1334598" cy="93450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359"/>
                  </a:lnSpc>
                </a:pPr>
              </a:p>
            </p:txBody>
          </p:sp>
        </p:grpSp>
        <p:sp>
          <p:nvSpPr>
            <p:cNvPr name="Freeform 25" id="25"/>
            <p:cNvSpPr/>
            <p:nvPr/>
          </p:nvSpPr>
          <p:spPr>
            <a:xfrm flipH="false" flipV="false" rot="0">
              <a:off x="2356224" y="2458537"/>
              <a:ext cx="1677394" cy="1677394"/>
            </a:xfrm>
            <a:custGeom>
              <a:avLst/>
              <a:gdLst/>
              <a:ahLst/>
              <a:cxnLst/>
              <a:rect r="r" b="b" t="t" l="l"/>
              <a:pathLst>
                <a:path h="1677394" w="1677394">
                  <a:moveTo>
                    <a:pt x="0" y="0"/>
                  </a:moveTo>
                  <a:lnTo>
                    <a:pt x="1677394" y="0"/>
                  </a:lnTo>
                  <a:lnTo>
                    <a:pt x="1677394" y="1677394"/>
                  </a:lnTo>
                  <a:lnTo>
                    <a:pt x="0" y="167739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 rot="0">
              <a:off x="320824" y="299500"/>
              <a:ext cx="5917002" cy="259249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799"/>
                </a:lnSpc>
              </a:pPr>
              <a:r>
                <a:rPr lang="en-US" sz="3799">
                  <a:solidFill>
                    <a:srgbClr val="2E2E2E"/>
                  </a:solidFill>
                  <a:latin typeface="Canva Sans"/>
                  <a:ea typeface="Canva Sans"/>
                  <a:cs typeface="Canva Sans"/>
                  <a:sym typeface="Canva Sans"/>
                </a:rPr>
                <a:t>Pour les passagers  </a:t>
              </a:r>
              <a:r>
                <a:rPr lang="en-US" sz="3799" b="true">
                  <a:solidFill>
                    <a:srgbClr val="2E2E2E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autonomie et sérénité</a:t>
              </a:r>
            </a:p>
            <a:p>
              <a:pPr algn="ctr">
                <a:lnSpc>
                  <a:spcPts val="3799"/>
                </a:lnSpc>
              </a:pP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462394" y="6147524"/>
            <a:ext cx="5067300" cy="3675403"/>
            <a:chOff x="0" y="0"/>
            <a:chExt cx="6756400" cy="4900538"/>
          </a:xfrm>
        </p:grpSpPr>
        <p:grpSp>
          <p:nvGrpSpPr>
            <p:cNvPr name="Group 28" id="28"/>
            <p:cNvGrpSpPr/>
            <p:nvPr/>
          </p:nvGrpSpPr>
          <p:grpSpPr>
            <a:xfrm rot="0">
              <a:off x="0" y="0"/>
              <a:ext cx="6756400" cy="4900538"/>
              <a:chOff x="0" y="0"/>
              <a:chExt cx="1334598" cy="968007"/>
            </a:xfrm>
          </p:grpSpPr>
          <p:sp>
            <p:nvSpPr>
              <p:cNvPr name="Freeform 29" id="29"/>
              <p:cNvSpPr/>
              <p:nvPr/>
            </p:nvSpPr>
            <p:spPr>
              <a:xfrm flipH="false" flipV="false" rot="0">
                <a:off x="0" y="0"/>
                <a:ext cx="1334598" cy="968007"/>
              </a:xfrm>
              <a:custGeom>
                <a:avLst/>
                <a:gdLst/>
                <a:ahLst/>
                <a:cxnLst/>
                <a:rect r="r" b="b" t="t" l="l"/>
                <a:pathLst>
                  <a:path h="968007" w="1334598">
                    <a:moveTo>
                      <a:pt x="30556" y="0"/>
                    </a:moveTo>
                    <a:lnTo>
                      <a:pt x="1304041" y="0"/>
                    </a:lnTo>
                    <a:cubicBezTo>
                      <a:pt x="1320917" y="0"/>
                      <a:pt x="1334598" y="13681"/>
                      <a:pt x="1334598" y="30556"/>
                    </a:cubicBezTo>
                    <a:lnTo>
                      <a:pt x="1334598" y="937451"/>
                    </a:lnTo>
                    <a:cubicBezTo>
                      <a:pt x="1334598" y="945555"/>
                      <a:pt x="1331378" y="953327"/>
                      <a:pt x="1325648" y="959058"/>
                    </a:cubicBezTo>
                    <a:cubicBezTo>
                      <a:pt x="1319917" y="964788"/>
                      <a:pt x="1312145" y="968007"/>
                      <a:pt x="1304041" y="968007"/>
                    </a:cubicBezTo>
                    <a:lnTo>
                      <a:pt x="30556" y="968007"/>
                    </a:lnTo>
                    <a:cubicBezTo>
                      <a:pt x="13681" y="968007"/>
                      <a:pt x="0" y="954327"/>
                      <a:pt x="0" y="937451"/>
                    </a:cubicBezTo>
                    <a:lnTo>
                      <a:pt x="0" y="30556"/>
                    </a:lnTo>
                    <a:cubicBezTo>
                      <a:pt x="0" y="13681"/>
                      <a:pt x="13681" y="0"/>
                      <a:pt x="30556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30" id="30"/>
              <p:cNvSpPr txBox="true"/>
              <p:nvPr/>
            </p:nvSpPr>
            <p:spPr>
              <a:xfrm>
                <a:off x="0" y="-38100"/>
                <a:ext cx="1334598" cy="100610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359"/>
                  </a:lnSpc>
                </a:pPr>
              </a:p>
            </p:txBody>
          </p:sp>
        </p:grpSp>
        <p:sp>
          <p:nvSpPr>
            <p:cNvPr name="Freeform 31" id="31"/>
            <p:cNvSpPr/>
            <p:nvPr/>
          </p:nvSpPr>
          <p:spPr>
            <a:xfrm flipH="false" flipV="false" rot="0">
              <a:off x="1958943" y="3415350"/>
              <a:ext cx="2640765" cy="1320383"/>
            </a:xfrm>
            <a:custGeom>
              <a:avLst/>
              <a:gdLst/>
              <a:ahLst/>
              <a:cxnLst/>
              <a:rect r="r" b="b" t="t" l="l"/>
              <a:pathLst>
                <a:path h="1320383" w="2640765">
                  <a:moveTo>
                    <a:pt x="0" y="0"/>
                  </a:moveTo>
                  <a:lnTo>
                    <a:pt x="2640765" y="0"/>
                  </a:lnTo>
                  <a:lnTo>
                    <a:pt x="2640765" y="1320382"/>
                  </a:lnTo>
                  <a:lnTo>
                    <a:pt x="0" y="132038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 rot="0">
              <a:off x="410087" y="213049"/>
              <a:ext cx="5917002" cy="386249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799"/>
                </a:lnSpc>
              </a:pPr>
              <a:r>
                <a:rPr lang="en-US" sz="3799">
                  <a:solidFill>
                    <a:srgbClr val="2E2E2E"/>
                  </a:solidFill>
                  <a:latin typeface="Canva Sans"/>
                  <a:ea typeface="Canva Sans"/>
                  <a:cs typeface="Canva Sans"/>
                  <a:sym typeface="Canva Sans"/>
                </a:rPr>
                <a:t>Pour la compagnie </a:t>
              </a:r>
              <a:r>
                <a:rPr lang="en-US" sz="3799" b="true">
                  <a:solidFill>
                    <a:srgbClr val="2E2E2E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meilleure expérience client et image innovante</a:t>
              </a:r>
            </a:p>
            <a:p>
              <a:pPr algn="ctr">
                <a:lnSpc>
                  <a:spcPts val="3799"/>
                </a:lnSpc>
              </a:pP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11387627" y="2006651"/>
            <a:ext cx="4870316" cy="4075475"/>
            <a:chOff x="0" y="0"/>
            <a:chExt cx="6493755" cy="5433966"/>
          </a:xfrm>
        </p:grpSpPr>
        <p:grpSp>
          <p:nvGrpSpPr>
            <p:cNvPr name="Group 34" id="34"/>
            <p:cNvGrpSpPr/>
            <p:nvPr/>
          </p:nvGrpSpPr>
          <p:grpSpPr>
            <a:xfrm rot="0">
              <a:off x="0" y="0"/>
              <a:ext cx="6493755" cy="5433966"/>
              <a:chOff x="0" y="0"/>
              <a:chExt cx="1282717" cy="1073376"/>
            </a:xfrm>
          </p:grpSpPr>
          <p:sp>
            <p:nvSpPr>
              <p:cNvPr name="Freeform 35" id="35"/>
              <p:cNvSpPr/>
              <p:nvPr/>
            </p:nvSpPr>
            <p:spPr>
              <a:xfrm flipH="false" flipV="false" rot="0">
                <a:off x="0" y="0"/>
                <a:ext cx="1282717" cy="1073376"/>
              </a:xfrm>
              <a:custGeom>
                <a:avLst/>
                <a:gdLst/>
                <a:ahLst/>
                <a:cxnLst/>
                <a:rect r="r" b="b" t="t" l="l"/>
                <a:pathLst>
                  <a:path h="1073376" w="1282717">
                    <a:moveTo>
                      <a:pt x="31792" y="0"/>
                    </a:moveTo>
                    <a:lnTo>
                      <a:pt x="1250925" y="0"/>
                    </a:lnTo>
                    <a:cubicBezTo>
                      <a:pt x="1268483" y="0"/>
                      <a:pt x="1282717" y="14234"/>
                      <a:pt x="1282717" y="31792"/>
                    </a:cubicBezTo>
                    <a:lnTo>
                      <a:pt x="1282717" y="1041584"/>
                    </a:lnTo>
                    <a:cubicBezTo>
                      <a:pt x="1282717" y="1059142"/>
                      <a:pt x="1268483" y="1073376"/>
                      <a:pt x="1250925" y="1073376"/>
                    </a:cubicBezTo>
                    <a:lnTo>
                      <a:pt x="31792" y="1073376"/>
                    </a:lnTo>
                    <a:cubicBezTo>
                      <a:pt x="14234" y="1073376"/>
                      <a:pt x="0" y="1059142"/>
                      <a:pt x="0" y="1041584"/>
                    </a:cubicBezTo>
                    <a:lnTo>
                      <a:pt x="0" y="31792"/>
                    </a:lnTo>
                    <a:cubicBezTo>
                      <a:pt x="0" y="14234"/>
                      <a:pt x="14234" y="0"/>
                      <a:pt x="31792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36" id="36"/>
              <p:cNvSpPr txBox="true"/>
              <p:nvPr/>
            </p:nvSpPr>
            <p:spPr>
              <a:xfrm>
                <a:off x="0" y="-38100"/>
                <a:ext cx="1282717" cy="111147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359"/>
                  </a:lnSpc>
                </a:pPr>
              </a:p>
            </p:txBody>
          </p:sp>
        </p:grpSp>
        <p:sp>
          <p:nvSpPr>
            <p:cNvPr name="Freeform 37" id="37"/>
            <p:cNvSpPr/>
            <p:nvPr/>
          </p:nvSpPr>
          <p:spPr>
            <a:xfrm flipH="false" flipV="false" rot="0">
              <a:off x="2148263" y="3227522"/>
              <a:ext cx="2344526" cy="2057322"/>
            </a:xfrm>
            <a:custGeom>
              <a:avLst/>
              <a:gdLst/>
              <a:ahLst/>
              <a:cxnLst/>
              <a:rect r="r" b="b" t="t" l="l"/>
              <a:pathLst>
                <a:path h="2057322" w="2344526">
                  <a:moveTo>
                    <a:pt x="0" y="0"/>
                  </a:moveTo>
                  <a:lnTo>
                    <a:pt x="2344527" y="0"/>
                  </a:lnTo>
                  <a:lnTo>
                    <a:pt x="2344527" y="2057322"/>
                  </a:lnTo>
                  <a:lnTo>
                    <a:pt x="0" y="205732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  <p:sp>
          <p:nvSpPr>
            <p:cNvPr name="TextBox 38" id="38"/>
            <p:cNvSpPr txBox="true"/>
            <p:nvPr/>
          </p:nvSpPr>
          <p:spPr>
            <a:xfrm rot="0">
              <a:off x="226022" y="311466"/>
              <a:ext cx="5917002" cy="322749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799"/>
                </a:lnSpc>
              </a:pPr>
              <a:r>
                <a:rPr lang="en-US" sz="3799">
                  <a:solidFill>
                    <a:srgbClr val="2E2E2E"/>
                  </a:solidFill>
                  <a:latin typeface="Canva Sans"/>
                  <a:ea typeface="Canva Sans"/>
                  <a:cs typeface="Canva Sans"/>
                  <a:sym typeface="Canva Sans"/>
                </a:rPr>
                <a:t>Pour le pers</a:t>
              </a:r>
              <a:r>
                <a:rPr lang="en-US" sz="3799">
                  <a:solidFill>
                    <a:srgbClr val="2E2E2E"/>
                  </a:solidFill>
                  <a:latin typeface="Canva Sans"/>
                  <a:ea typeface="Canva Sans"/>
                  <a:cs typeface="Canva Sans"/>
                  <a:sym typeface="Canva Sans"/>
                </a:rPr>
                <a:t>on</a:t>
              </a:r>
              <a:r>
                <a:rPr lang="en-US" sz="3799">
                  <a:solidFill>
                    <a:srgbClr val="2E2E2E"/>
                  </a:solidFill>
                  <a:latin typeface="Canva Sans"/>
                  <a:ea typeface="Canva Sans"/>
                  <a:cs typeface="Canva Sans"/>
                  <a:sym typeface="Canva Sans"/>
                </a:rPr>
                <a:t>nel </a:t>
              </a:r>
              <a:r>
                <a:rPr lang="en-US" sz="3799" b="true">
                  <a:solidFill>
                    <a:srgbClr val="2E2E2E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moins de demandes d’assistance</a:t>
              </a:r>
            </a:p>
            <a:p>
              <a:pPr algn="ctr">
                <a:lnSpc>
                  <a:spcPts val="3799"/>
                </a:lnSpc>
              </a:pPr>
            </a:p>
          </p:txBody>
        </p:sp>
      </p:grpSp>
      <p:sp>
        <p:nvSpPr>
          <p:cNvPr name="TextBox 39" id="39"/>
          <p:cNvSpPr txBox="true"/>
          <p:nvPr/>
        </p:nvSpPr>
        <p:spPr>
          <a:xfrm rot="0">
            <a:off x="16827374" y="9099446"/>
            <a:ext cx="1437477" cy="8952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355"/>
              </a:lnSpc>
              <a:spcBef>
                <a:spcPct val="0"/>
              </a:spcBef>
            </a:pPr>
            <a:r>
              <a:rPr lang="en-US" b="true" sz="5253" spc="147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4</a:t>
            </a:r>
          </a:p>
        </p:txBody>
      </p:sp>
      <p:sp>
        <p:nvSpPr>
          <p:cNvPr name="Freeform 40" id="40"/>
          <p:cNvSpPr/>
          <p:nvPr/>
        </p:nvSpPr>
        <p:spPr>
          <a:xfrm flipH="false" flipV="false" rot="0">
            <a:off x="16257943" y="-51021"/>
            <a:ext cx="1794986" cy="1794986"/>
          </a:xfrm>
          <a:custGeom>
            <a:avLst/>
            <a:gdLst/>
            <a:ahLst/>
            <a:cxnLst/>
            <a:rect r="r" b="b" t="t" l="l"/>
            <a:pathLst>
              <a:path h="1794986" w="1794986">
                <a:moveTo>
                  <a:pt x="0" y="0"/>
                </a:moveTo>
                <a:lnTo>
                  <a:pt x="1794986" y="0"/>
                </a:lnTo>
                <a:lnTo>
                  <a:pt x="1794986" y="1794986"/>
                </a:lnTo>
                <a:lnTo>
                  <a:pt x="0" y="1794986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78787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4539567" y="7289719"/>
            <a:ext cx="5983836" cy="5983836"/>
          </a:xfrm>
          <a:custGeom>
            <a:avLst/>
            <a:gdLst/>
            <a:ahLst/>
            <a:cxnLst/>
            <a:rect r="r" b="b" t="t" l="l"/>
            <a:pathLst>
              <a:path h="5983836" w="5983836">
                <a:moveTo>
                  <a:pt x="0" y="0"/>
                </a:moveTo>
                <a:lnTo>
                  <a:pt x="5983836" y="0"/>
                </a:lnTo>
                <a:lnTo>
                  <a:pt x="5983836" y="5983836"/>
                </a:lnTo>
                <a:lnTo>
                  <a:pt x="0" y="598383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28700" y="4860467"/>
            <a:ext cx="16230600" cy="2089690"/>
          </a:xfrm>
          <a:custGeom>
            <a:avLst/>
            <a:gdLst/>
            <a:ahLst/>
            <a:cxnLst/>
            <a:rect r="r" b="b" t="t" l="l"/>
            <a:pathLst>
              <a:path h="2089690" w="16230600">
                <a:moveTo>
                  <a:pt x="0" y="0"/>
                </a:moveTo>
                <a:lnTo>
                  <a:pt x="16230600" y="0"/>
                </a:lnTo>
                <a:lnTo>
                  <a:pt x="16230600" y="2089690"/>
                </a:lnTo>
                <a:lnTo>
                  <a:pt x="0" y="208969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2054378" y="3990071"/>
            <a:ext cx="2589782" cy="2589782"/>
          </a:xfrm>
          <a:custGeom>
            <a:avLst/>
            <a:gdLst/>
            <a:ahLst/>
            <a:cxnLst/>
            <a:rect r="r" b="b" t="t" l="l"/>
            <a:pathLst>
              <a:path h="2589782" w="2589782">
                <a:moveTo>
                  <a:pt x="0" y="0"/>
                </a:moveTo>
                <a:lnTo>
                  <a:pt x="2589782" y="0"/>
                </a:lnTo>
                <a:lnTo>
                  <a:pt x="2589782" y="2589782"/>
                </a:lnTo>
                <a:lnTo>
                  <a:pt x="0" y="258978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16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4377936" y="5284929"/>
            <a:ext cx="2589847" cy="2589848"/>
          </a:xfrm>
          <a:custGeom>
            <a:avLst/>
            <a:gdLst/>
            <a:ahLst/>
            <a:cxnLst/>
            <a:rect r="r" b="b" t="t" l="l"/>
            <a:pathLst>
              <a:path h="2589848" w="2589847">
                <a:moveTo>
                  <a:pt x="0" y="0"/>
                </a:moveTo>
                <a:lnTo>
                  <a:pt x="2589848" y="0"/>
                </a:lnTo>
                <a:lnTo>
                  <a:pt x="2589848" y="2589848"/>
                </a:lnTo>
                <a:lnTo>
                  <a:pt x="0" y="258984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alphaModFix amt="16000"/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6" id="6"/>
          <p:cNvSpPr/>
          <p:nvPr/>
        </p:nvSpPr>
        <p:spPr>
          <a:xfrm flipH="false" flipV="false" rot="0">
            <a:off x="9011817" y="5284994"/>
            <a:ext cx="2589847" cy="2589847"/>
          </a:xfrm>
          <a:custGeom>
            <a:avLst/>
            <a:gdLst/>
            <a:ahLst/>
            <a:cxnLst/>
            <a:rect r="r" b="b" t="t" l="l"/>
            <a:pathLst>
              <a:path h="2589847" w="2589847">
                <a:moveTo>
                  <a:pt x="0" y="0"/>
                </a:moveTo>
                <a:lnTo>
                  <a:pt x="2589847" y="0"/>
                </a:lnTo>
                <a:lnTo>
                  <a:pt x="2589847" y="2589848"/>
                </a:lnTo>
                <a:lnTo>
                  <a:pt x="0" y="2589848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alphaModFix amt="16000"/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7" id="7"/>
          <p:cNvSpPr/>
          <p:nvPr/>
        </p:nvSpPr>
        <p:spPr>
          <a:xfrm flipH="false" flipV="false" rot="0">
            <a:off x="13655059" y="5284994"/>
            <a:ext cx="2589847" cy="2589847"/>
          </a:xfrm>
          <a:custGeom>
            <a:avLst/>
            <a:gdLst/>
            <a:ahLst/>
            <a:cxnLst/>
            <a:rect r="r" b="b" t="t" l="l"/>
            <a:pathLst>
              <a:path h="2589847" w="2589847">
                <a:moveTo>
                  <a:pt x="0" y="0"/>
                </a:moveTo>
                <a:lnTo>
                  <a:pt x="2589848" y="0"/>
                </a:lnTo>
                <a:lnTo>
                  <a:pt x="2589848" y="2589848"/>
                </a:lnTo>
                <a:lnTo>
                  <a:pt x="0" y="2589848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alphaModFix amt="16000"/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8" id="8"/>
          <p:cNvSpPr/>
          <p:nvPr/>
        </p:nvSpPr>
        <p:spPr>
          <a:xfrm flipH="false" flipV="false" rot="0">
            <a:off x="6688226" y="3990071"/>
            <a:ext cx="2589847" cy="2589848"/>
          </a:xfrm>
          <a:custGeom>
            <a:avLst/>
            <a:gdLst/>
            <a:ahLst/>
            <a:cxnLst/>
            <a:rect r="r" b="b" t="t" l="l"/>
            <a:pathLst>
              <a:path h="2589848" w="2589847">
                <a:moveTo>
                  <a:pt x="0" y="0"/>
                </a:moveTo>
                <a:lnTo>
                  <a:pt x="2589847" y="0"/>
                </a:lnTo>
                <a:lnTo>
                  <a:pt x="2589847" y="2589847"/>
                </a:lnTo>
                <a:lnTo>
                  <a:pt x="0" y="2589847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alphaModFix amt="16000"/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9" id="9"/>
          <p:cNvSpPr/>
          <p:nvPr/>
        </p:nvSpPr>
        <p:spPr>
          <a:xfrm flipH="false" flipV="false" rot="0">
            <a:off x="11331468" y="3990071"/>
            <a:ext cx="2589848" cy="2589848"/>
          </a:xfrm>
          <a:custGeom>
            <a:avLst/>
            <a:gdLst/>
            <a:ahLst/>
            <a:cxnLst/>
            <a:rect r="r" b="b" t="t" l="l"/>
            <a:pathLst>
              <a:path h="2589848" w="2589848">
                <a:moveTo>
                  <a:pt x="0" y="0"/>
                </a:moveTo>
                <a:lnTo>
                  <a:pt x="2589848" y="0"/>
                </a:lnTo>
                <a:lnTo>
                  <a:pt x="2589848" y="2589847"/>
                </a:lnTo>
                <a:lnTo>
                  <a:pt x="0" y="2589847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alphaModFix amt="16000"/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10" id="10"/>
          <p:cNvGrpSpPr/>
          <p:nvPr/>
        </p:nvGrpSpPr>
        <p:grpSpPr>
          <a:xfrm rot="0">
            <a:off x="2600766" y="4536459"/>
            <a:ext cx="1497006" cy="1497006"/>
            <a:chOff x="0" y="0"/>
            <a:chExt cx="812800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A0909"/>
            </a:solidFill>
            <a:ln cap="sq">
              <a:noFill/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3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4924357" y="5792713"/>
            <a:ext cx="1497006" cy="1497006"/>
            <a:chOff x="0" y="0"/>
            <a:chExt cx="812800" cy="8128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7882"/>
            </a:solidFill>
            <a:ln cap="sq">
              <a:noFill/>
              <a:prstDash val="solid"/>
              <a:miter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3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7234646" y="4536459"/>
            <a:ext cx="1497006" cy="1497006"/>
            <a:chOff x="0" y="0"/>
            <a:chExt cx="812800" cy="8128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A0909"/>
            </a:solidFill>
            <a:ln cap="sq">
              <a:noFill/>
              <a:prstDash val="solid"/>
              <a:miter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3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9558237" y="5792713"/>
            <a:ext cx="1497006" cy="1497006"/>
            <a:chOff x="0" y="0"/>
            <a:chExt cx="812800" cy="8128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26071"/>
            </a:solidFill>
            <a:ln cap="sq">
              <a:noFill/>
              <a:prstDash val="solid"/>
              <a:miter/>
            </a:ln>
          </p:spPr>
        </p:sp>
        <p:sp>
          <p:nvSpPr>
            <p:cNvPr name="TextBox 21" id="21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3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1868527" y="4536459"/>
            <a:ext cx="1497006" cy="1497006"/>
            <a:chOff x="0" y="0"/>
            <a:chExt cx="812800" cy="8128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A0909"/>
            </a:solidFill>
            <a:ln cap="sq">
              <a:noFill/>
              <a:prstDash val="solid"/>
              <a:miter/>
            </a:ln>
          </p:spPr>
        </p:sp>
        <p:sp>
          <p:nvSpPr>
            <p:cNvPr name="TextBox 24" id="2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3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14192118" y="5792713"/>
            <a:ext cx="1497006" cy="1497006"/>
            <a:chOff x="0" y="0"/>
            <a:chExt cx="812800" cy="8128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F4858"/>
            </a:solidFill>
            <a:ln cap="sq">
              <a:noFill/>
              <a:prstDash val="solid"/>
              <a:miter/>
            </a:ln>
          </p:spPr>
        </p:sp>
        <p:sp>
          <p:nvSpPr>
            <p:cNvPr name="TextBox 27" id="27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3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28" id="28"/>
          <p:cNvSpPr/>
          <p:nvPr/>
        </p:nvSpPr>
        <p:spPr>
          <a:xfrm flipH="false" flipV="false" rot="0">
            <a:off x="2934693" y="4832491"/>
            <a:ext cx="829152" cy="904941"/>
          </a:xfrm>
          <a:custGeom>
            <a:avLst/>
            <a:gdLst/>
            <a:ahLst/>
            <a:cxnLst/>
            <a:rect r="r" b="b" t="t" l="l"/>
            <a:pathLst>
              <a:path h="904941" w="829152">
                <a:moveTo>
                  <a:pt x="0" y="0"/>
                </a:moveTo>
                <a:lnTo>
                  <a:pt x="829152" y="0"/>
                </a:lnTo>
                <a:lnTo>
                  <a:pt x="829152" y="904941"/>
                </a:lnTo>
                <a:lnTo>
                  <a:pt x="0" y="904941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9" id="29"/>
          <p:cNvSpPr/>
          <p:nvPr/>
        </p:nvSpPr>
        <p:spPr>
          <a:xfrm flipH="false" flipV="false" rot="0">
            <a:off x="7620902" y="4886340"/>
            <a:ext cx="724494" cy="797242"/>
          </a:xfrm>
          <a:custGeom>
            <a:avLst/>
            <a:gdLst/>
            <a:ahLst/>
            <a:cxnLst/>
            <a:rect r="r" b="b" t="t" l="l"/>
            <a:pathLst>
              <a:path h="797242" w="724494">
                <a:moveTo>
                  <a:pt x="0" y="0"/>
                </a:moveTo>
                <a:lnTo>
                  <a:pt x="724494" y="0"/>
                </a:lnTo>
                <a:lnTo>
                  <a:pt x="724494" y="797243"/>
                </a:lnTo>
                <a:lnTo>
                  <a:pt x="0" y="797243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0" id="30"/>
          <p:cNvSpPr/>
          <p:nvPr/>
        </p:nvSpPr>
        <p:spPr>
          <a:xfrm flipH="false" flipV="false" rot="0">
            <a:off x="9908119" y="6170498"/>
            <a:ext cx="797242" cy="741436"/>
          </a:xfrm>
          <a:custGeom>
            <a:avLst/>
            <a:gdLst/>
            <a:ahLst/>
            <a:cxnLst/>
            <a:rect r="r" b="b" t="t" l="l"/>
            <a:pathLst>
              <a:path h="741436" w="797242">
                <a:moveTo>
                  <a:pt x="0" y="0"/>
                </a:moveTo>
                <a:lnTo>
                  <a:pt x="797243" y="0"/>
                </a:lnTo>
                <a:lnTo>
                  <a:pt x="797243" y="741436"/>
                </a:lnTo>
                <a:lnTo>
                  <a:pt x="0" y="741436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1" id="31"/>
          <p:cNvSpPr/>
          <p:nvPr/>
        </p:nvSpPr>
        <p:spPr>
          <a:xfrm flipH="false" flipV="false" rot="0">
            <a:off x="12218409" y="4912251"/>
            <a:ext cx="797242" cy="745422"/>
          </a:xfrm>
          <a:custGeom>
            <a:avLst/>
            <a:gdLst/>
            <a:ahLst/>
            <a:cxnLst/>
            <a:rect r="r" b="b" t="t" l="l"/>
            <a:pathLst>
              <a:path h="745422" w="797242">
                <a:moveTo>
                  <a:pt x="0" y="0"/>
                </a:moveTo>
                <a:lnTo>
                  <a:pt x="797242" y="0"/>
                </a:lnTo>
                <a:lnTo>
                  <a:pt x="797242" y="745422"/>
                </a:lnTo>
                <a:lnTo>
                  <a:pt x="0" y="745422"/>
                </a:lnTo>
                <a:lnTo>
                  <a:pt x="0" y="0"/>
                </a:lnTo>
                <a:close/>
              </a:path>
            </a:pathLst>
          </a:custGeom>
          <a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2" id="32"/>
          <p:cNvSpPr/>
          <p:nvPr/>
        </p:nvSpPr>
        <p:spPr>
          <a:xfrm flipH="false" flipV="false" rot="0">
            <a:off x="14578374" y="6142595"/>
            <a:ext cx="724494" cy="797242"/>
          </a:xfrm>
          <a:custGeom>
            <a:avLst/>
            <a:gdLst/>
            <a:ahLst/>
            <a:cxnLst/>
            <a:rect r="r" b="b" t="t" l="l"/>
            <a:pathLst>
              <a:path h="797242" w="724494">
                <a:moveTo>
                  <a:pt x="0" y="0"/>
                </a:moveTo>
                <a:lnTo>
                  <a:pt x="724494" y="0"/>
                </a:lnTo>
                <a:lnTo>
                  <a:pt x="724494" y="797242"/>
                </a:lnTo>
                <a:lnTo>
                  <a:pt x="0" y="797242"/>
                </a:lnTo>
                <a:lnTo>
                  <a:pt x="0" y="0"/>
                </a:lnTo>
                <a:close/>
              </a:path>
            </a:pathLst>
          </a:custGeom>
          <a:blipFill>
            <a:blip r:embed="rId22">
              <a:extLs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3" id="33"/>
          <p:cNvSpPr/>
          <p:nvPr/>
        </p:nvSpPr>
        <p:spPr>
          <a:xfrm flipH="false" flipV="false" rot="0">
            <a:off x="5277572" y="6149881"/>
            <a:ext cx="790575" cy="782669"/>
          </a:xfrm>
          <a:custGeom>
            <a:avLst/>
            <a:gdLst/>
            <a:ahLst/>
            <a:cxnLst/>
            <a:rect r="r" b="b" t="t" l="l"/>
            <a:pathLst>
              <a:path h="782669" w="790575">
                <a:moveTo>
                  <a:pt x="0" y="0"/>
                </a:moveTo>
                <a:lnTo>
                  <a:pt x="790575" y="0"/>
                </a:lnTo>
                <a:lnTo>
                  <a:pt x="790575" y="782670"/>
                </a:lnTo>
                <a:lnTo>
                  <a:pt x="0" y="782670"/>
                </a:lnTo>
                <a:lnTo>
                  <a:pt x="0" y="0"/>
                </a:lnTo>
                <a:close/>
              </a:path>
            </a:pathLst>
          </a:custGeom>
          <a:blipFill>
            <a:blip r:embed="rId24">
              <a:extLst>
                <a:ext uri="{96DAC541-7B7A-43D3-8B79-37D633B846F1}">
                  <asvg:svgBlip xmlns:asvg="http://schemas.microsoft.com/office/drawing/2016/SVG/main" r:embed="rId2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4" id="34"/>
          <p:cNvSpPr/>
          <p:nvPr/>
        </p:nvSpPr>
        <p:spPr>
          <a:xfrm flipH="false" flipV="false" rot="0">
            <a:off x="311871" y="290040"/>
            <a:ext cx="1340270" cy="1246451"/>
          </a:xfrm>
          <a:custGeom>
            <a:avLst/>
            <a:gdLst/>
            <a:ahLst/>
            <a:cxnLst/>
            <a:rect r="r" b="b" t="t" l="l"/>
            <a:pathLst>
              <a:path h="1246451" w="1340270">
                <a:moveTo>
                  <a:pt x="0" y="0"/>
                </a:moveTo>
                <a:lnTo>
                  <a:pt x="1340269" y="0"/>
                </a:lnTo>
                <a:lnTo>
                  <a:pt x="1340269" y="1246451"/>
                </a:lnTo>
                <a:lnTo>
                  <a:pt x="0" y="1246451"/>
                </a:lnTo>
                <a:lnTo>
                  <a:pt x="0" y="0"/>
                </a:lnTo>
                <a:close/>
              </a:path>
            </a:pathLst>
          </a:custGeom>
          <a:blipFill>
            <a:blip r:embed="rId26">
              <a:extLst>
                <a:ext uri="{96DAC541-7B7A-43D3-8B79-37D633B846F1}">
                  <asvg:svgBlip xmlns:asvg="http://schemas.microsoft.com/office/drawing/2016/SVG/main" r:embed="rId2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5" id="35"/>
          <p:cNvSpPr/>
          <p:nvPr/>
        </p:nvSpPr>
        <p:spPr>
          <a:xfrm flipH="true" flipV="false" rot="0">
            <a:off x="-293867" y="8687989"/>
            <a:ext cx="2551746" cy="2184932"/>
          </a:xfrm>
          <a:custGeom>
            <a:avLst/>
            <a:gdLst/>
            <a:ahLst/>
            <a:cxnLst/>
            <a:rect r="r" b="b" t="t" l="l"/>
            <a:pathLst>
              <a:path h="2184932" w="2551746">
                <a:moveTo>
                  <a:pt x="2551745" y="0"/>
                </a:moveTo>
                <a:lnTo>
                  <a:pt x="0" y="0"/>
                </a:lnTo>
                <a:lnTo>
                  <a:pt x="0" y="2184932"/>
                </a:lnTo>
                <a:lnTo>
                  <a:pt x="2551745" y="2184932"/>
                </a:lnTo>
                <a:lnTo>
                  <a:pt x="2551745" y="0"/>
                </a:lnTo>
                <a:close/>
              </a:path>
            </a:pathLst>
          </a:custGeom>
          <a:blipFill>
            <a:blip r:embed="rId28">
              <a:extLst>
                <a:ext uri="{96DAC541-7B7A-43D3-8B79-37D633B846F1}">
                  <asvg:svgBlip xmlns:asvg="http://schemas.microsoft.com/office/drawing/2016/SVG/main" r:embed="rId2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6" id="36"/>
          <p:cNvSpPr/>
          <p:nvPr/>
        </p:nvSpPr>
        <p:spPr>
          <a:xfrm flipH="false" flipV="true" rot="0">
            <a:off x="3349269" y="6697046"/>
            <a:ext cx="993504" cy="704146"/>
          </a:xfrm>
          <a:custGeom>
            <a:avLst/>
            <a:gdLst/>
            <a:ahLst/>
            <a:cxnLst/>
            <a:rect r="r" b="b" t="t" l="l"/>
            <a:pathLst>
              <a:path h="704146" w="993504">
                <a:moveTo>
                  <a:pt x="0" y="704145"/>
                </a:moveTo>
                <a:lnTo>
                  <a:pt x="993503" y="704145"/>
                </a:lnTo>
                <a:lnTo>
                  <a:pt x="993503" y="0"/>
                </a:lnTo>
                <a:lnTo>
                  <a:pt x="0" y="0"/>
                </a:lnTo>
                <a:lnTo>
                  <a:pt x="0" y="704145"/>
                </a:lnTo>
                <a:close/>
              </a:path>
            </a:pathLst>
          </a:custGeom>
          <a:blipFill>
            <a:blip r:embed="rId30">
              <a:extLst>
                <a:ext uri="{96DAC541-7B7A-43D3-8B79-37D633B846F1}">
                  <asvg:svgBlip xmlns:asvg="http://schemas.microsoft.com/office/drawing/2016/SVG/main" r:embed="rId31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37" id="37"/>
          <p:cNvSpPr/>
          <p:nvPr/>
        </p:nvSpPr>
        <p:spPr>
          <a:xfrm flipH="false" flipV="true" rot="0">
            <a:off x="7983149" y="6697046"/>
            <a:ext cx="993504" cy="704146"/>
          </a:xfrm>
          <a:custGeom>
            <a:avLst/>
            <a:gdLst/>
            <a:ahLst/>
            <a:cxnLst/>
            <a:rect r="r" b="b" t="t" l="l"/>
            <a:pathLst>
              <a:path h="704146" w="993504">
                <a:moveTo>
                  <a:pt x="0" y="704145"/>
                </a:moveTo>
                <a:lnTo>
                  <a:pt x="993504" y="704145"/>
                </a:lnTo>
                <a:lnTo>
                  <a:pt x="993504" y="0"/>
                </a:lnTo>
                <a:lnTo>
                  <a:pt x="0" y="0"/>
                </a:lnTo>
                <a:lnTo>
                  <a:pt x="0" y="704145"/>
                </a:lnTo>
                <a:close/>
              </a:path>
            </a:pathLst>
          </a:custGeom>
          <a:blipFill>
            <a:blip r:embed="rId30">
              <a:extLst>
                <a:ext uri="{96DAC541-7B7A-43D3-8B79-37D633B846F1}">
                  <asvg:svgBlip xmlns:asvg="http://schemas.microsoft.com/office/drawing/2016/SVG/main" r:embed="rId31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38" id="38"/>
          <p:cNvSpPr/>
          <p:nvPr/>
        </p:nvSpPr>
        <p:spPr>
          <a:xfrm flipH="false" flipV="false" rot="0">
            <a:off x="5672860" y="4480418"/>
            <a:ext cx="993504" cy="704146"/>
          </a:xfrm>
          <a:custGeom>
            <a:avLst/>
            <a:gdLst/>
            <a:ahLst/>
            <a:cxnLst/>
            <a:rect r="r" b="b" t="t" l="l"/>
            <a:pathLst>
              <a:path h="704146" w="993504">
                <a:moveTo>
                  <a:pt x="0" y="0"/>
                </a:moveTo>
                <a:lnTo>
                  <a:pt x="993503" y="0"/>
                </a:lnTo>
                <a:lnTo>
                  <a:pt x="993503" y="704146"/>
                </a:lnTo>
                <a:lnTo>
                  <a:pt x="0" y="704146"/>
                </a:lnTo>
                <a:lnTo>
                  <a:pt x="0" y="0"/>
                </a:lnTo>
                <a:close/>
              </a:path>
            </a:pathLst>
          </a:custGeom>
          <a:blipFill>
            <a:blip r:embed="rId30">
              <a:extLst>
                <a:ext uri="{96DAC541-7B7A-43D3-8B79-37D633B846F1}">
                  <asvg:svgBlip xmlns:asvg="http://schemas.microsoft.com/office/drawing/2016/SVG/main" r:embed="rId31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39" id="39"/>
          <p:cNvSpPr/>
          <p:nvPr/>
        </p:nvSpPr>
        <p:spPr>
          <a:xfrm flipH="false" flipV="false" rot="0">
            <a:off x="10306740" y="4480418"/>
            <a:ext cx="993504" cy="704146"/>
          </a:xfrm>
          <a:custGeom>
            <a:avLst/>
            <a:gdLst/>
            <a:ahLst/>
            <a:cxnLst/>
            <a:rect r="r" b="b" t="t" l="l"/>
            <a:pathLst>
              <a:path h="704146" w="993504">
                <a:moveTo>
                  <a:pt x="0" y="0"/>
                </a:moveTo>
                <a:lnTo>
                  <a:pt x="993504" y="0"/>
                </a:lnTo>
                <a:lnTo>
                  <a:pt x="993504" y="704146"/>
                </a:lnTo>
                <a:lnTo>
                  <a:pt x="0" y="704146"/>
                </a:lnTo>
                <a:lnTo>
                  <a:pt x="0" y="0"/>
                </a:lnTo>
                <a:close/>
              </a:path>
            </a:pathLst>
          </a:custGeom>
          <a:blipFill>
            <a:blip r:embed="rId30">
              <a:extLst>
                <a:ext uri="{96DAC541-7B7A-43D3-8B79-37D633B846F1}">
                  <asvg:svgBlip xmlns:asvg="http://schemas.microsoft.com/office/drawing/2016/SVG/main" r:embed="rId31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40" id="40"/>
          <p:cNvSpPr/>
          <p:nvPr/>
        </p:nvSpPr>
        <p:spPr>
          <a:xfrm flipH="false" flipV="true" rot="0">
            <a:off x="12593267" y="6697046"/>
            <a:ext cx="993504" cy="704146"/>
          </a:xfrm>
          <a:custGeom>
            <a:avLst/>
            <a:gdLst/>
            <a:ahLst/>
            <a:cxnLst/>
            <a:rect r="r" b="b" t="t" l="l"/>
            <a:pathLst>
              <a:path h="704146" w="993504">
                <a:moveTo>
                  <a:pt x="0" y="704145"/>
                </a:moveTo>
                <a:lnTo>
                  <a:pt x="993504" y="704145"/>
                </a:lnTo>
                <a:lnTo>
                  <a:pt x="993504" y="0"/>
                </a:lnTo>
                <a:lnTo>
                  <a:pt x="0" y="0"/>
                </a:lnTo>
                <a:lnTo>
                  <a:pt x="0" y="704145"/>
                </a:lnTo>
                <a:close/>
              </a:path>
            </a:pathLst>
          </a:custGeom>
          <a:blipFill>
            <a:blip r:embed="rId30">
              <a:extLst>
                <a:ext uri="{96DAC541-7B7A-43D3-8B79-37D633B846F1}">
                  <asvg:svgBlip xmlns:asvg="http://schemas.microsoft.com/office/drawing/2016/SVG/main" r:embed="rId31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41" id="41"/>
          <p:cNvSpPr txBox="true"/>
          <p:nvPr/>
        </p:nvSpPr>
        <p:spPr>
          <a:xfrm rot="0">
            <a:off x="4296594" y="848603"/>
            <a:ext cx="9694813" cy="7791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80"/>
              </a:lnSpc>
            </a:pPr>
            <a:r>
              <a:rPr lang="en-US" b="true" sz="4200">
                <a:solidFill>
                  <a:srgbClr val="151857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PRODUCT DEVELOPMENT ROADMAP</a:t>
            </a:r>
          </a:p>
        </p:txBody>
      </p:sp>
      <p:grpSp>
        <p:nvGrpSpPr>
          <p:cNvPr name="Group 42" id="42"/>
          <p:cNvGrpSpPr/>
          <p:nvPr/>
        </p:nvGrpSpPr>
        <p:grpSpPr>
          <a:xfrm rot="0">
            <a:off x="1596229" y="2503525"/>
            <a:ext cx="3503392" cy="1904069"/>
            <a:chOff x="0" y="0"/>
            <a:chExt cx="4671189" cy="2538758"/>
          </a:xfrm>
        </p:grpSpPr>
        <p:sp>
          <p:nvSpPr>
            <p:cNvPr name="TextBox 43" id="43"/>
            <p:cNvSpPr txBox="true"/>
            <p:nvPr/>
          </p:nvSpPr>
          <p:spPr>
            <a:xfrm rot="0">
              <a:off x="442204" y="-57150"/>
              <a:ext cx="3786781" cy="109337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359"/>
                </a:lnSpc>
              </a:pPr>
              <a:r>
                <a:rPr lang="en-US" sz="2400" b="true">
                  <a:solidFill>
                    <a:srgbClr val="151857"/>
                  </a:solidFill>
                  <a:latin typeface="Liberation Sans Bold"/>
                  <a:ea typeface="Liberation Sans Bold"/>
                  <a:cs typeface="Liberation Sans Bold"/>
                  <a:sym typeface="Liberation Sans Bold"/>
                </a:rPr>
                <a:t> Recherche &amp; conception</a:t>
              </a:r>
            </a:p>
          </p:txBody>
        </p:sp>
        <p:sp>
          <p:nvSpPr>
            <p:cNvPr name="TextBox 44" id="44"/>
            <p:cNvSpPr txBox="true"/>
            <p:nvPr/>
          </p:nvSpPr>
          <p:spPr>
            <a:xfrm rot="0">
              <a:off x="0" y="1285268"/>
              <a:ext cx="4671189" cy="125349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520"/>
                </a:lnSpc>
              </a:pPr>
              <a:r>
                <a:rPr lang="en-US" sz="1800">
                  <a:solidFill>
                    <a:srgbClr val="FAFAFA"/>
                  </a:solidFill>
                  <a:latin typeface="Liberation Sans"/>
                  <a:ea typeface="Liberation Sans"/>
                  <a:cs typeface="Liberation Sans"/>
                  <a:sym typeface="Liberation Sans"/>
                </a:rPr>
                <a:t>Étude des besoins des passagers, définition des fonctionnalités principales (carte, QR code, etc.)</a:t>
              </a: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3870561" y="7518319"/>
            <a:ext cx="3604598" cy="1275419"/>
            <a:chOff x="0" y="0"/>
            <a:chExt cx="4806131" cy="1700558"/>
          </a:xfrm>
        </p:grpSpPr>
        <p:sp>
          <p:nvSpPr>
            <p:cNvPr name="TextBox 46" id="46"/>
            <p:cNvSpPr txBox="true"/>
            <p:nvPr/>
          </p:nvSpPr>
          <p:spPr>
            <a:xfrm rot="0">
              <a:off x="700568" y="-57150"/>
              <a:ext cx="3404994" cy="109337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359"/>
                </a:lnSpc>
              </a:pPr>
              <a:r>
                <a:rPr lang="en-US" sz="2400" b="true">
                  <a:solidFill>
                    <a:srgbClr val="151857"/>
                  </a:solidFill>
                  <a:latin typeface="Liberation Sans Bold"/>
                  <a:ea typeface="Liberation Sans Bold"/>
                  <a:cs typeface="Liberation Sans Bold"/>
                  <a:sym typeface="Liberation Sans Bold"/>
                </a:rPr>
                <a:t>Design &amp; maquettes</a:t>
              </a:r>
            </a:p>
          </p:txBody>
        </p:sp>
        <p:sp>
          <p:nvSpPr>
            <p:cNvPr name="TextBox 47" id="47"/>
            <p:cNvSpPr txBox="true"/>
            <p:nvPr/>
          </p:nvSpPr>
          <p:spPr>
            <a:xfrm rot="0">
              <a:off x="0" y="1285268"/>
              <a:ext cx="4806131" cy="41529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520"/>
                </a:lnSpc>
              </a:pPr>
              <a:r>
                <a:rPr lang="en-US" sz="1800">
                  <a:solidFill>
                    <a:srgbClr val="FFFFFF"/>
                  </a:solidFill>
                  <a:latin typeface="Liberation Sans"/>
                  <a:ea typeface="Liberation Sans"/>
                  <a:cs typeface="Liberation Sans"/>
                  <a:sym typeface="Liberation Sans"/>
                </a:rPr>
                <a:t>Création de l’interface mobile</a:t>
              </a: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6537895" y="2503525"/>
            <a:ext cx="2890508" cy="1485005"/>
            <a:chOff x="0" y="0"/>
            <a:chExt cx="3854010" cy="1980006"/>
          </a:xfrm>
        </p:grpSpPr>
        <p:sp>
          <p:nvSpPr>
            <p:cNvPr name="TextBox 49" id="49"/>
            <p:cNvSpPr txBox="true"/>
            <p:nvPr/>
          </p:nvSpPr>
          <p:spPr>
            <a:xfrm rot="0">
              <a:off x="242259" y="-57150"/>
              <a:ext cx="3369492" cy="53462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359"/>
                </a:lnSpc>
              </a:pPr>
              <a:r>
                <a:rPr lang="en-US" sz="2400" b="true">
                  <a:solidFill>
                    <a:srgbClr val="151857"/>
                  </a:solidFill>
                  <a:latin typeface="Liberation Sans Bold"/>
                  <a:ea typeface="Liberation Sans Bold"/>
                  <a:cs typeface="Liberation Sans Bold"/>
                  <a:sym typeface="Liberation Sans Bold"/>
                </a:rPr>
                <a:t>Développement</a:t>
              </a:r>
            </a:p>
          </p:txBody>
        </p:sp>
        <p:sp>
          <p:nvSpPr>
            <p:cNvPr name="TextBox 50" id="50"/>
            <p:cNvSpPr txBox="true"/>
            <p:nvPr/>
          </p:nvSpPr>
          <p:spPr>
            <a:xfrm rot="0">
              <a:off x="0" y="726516"/>
              <a:ext cx="3854010" cy="125349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520"/>
                </a:lnSpc>
              </a:pPr>
              <a:r>
                <a:rPr lang="en-US" sz="1800">
                  <a:solidFill>
                    <a:srgbClr val="FAFAFA"/>
                  </a:solidFill>
                  <a:latin typeface="Liberation Sans"/>
                  <a:ea typeface="Liberation Sans"/>
                  <a:cs typeface="Liberation Sans"/>
                  <a:sym typeface="Liberation Sans"/>
                </a:rPr>
                <a:t>Programmation de l’application (map interactive + scan QR code)</a:t>
              </a:r>
            </a:p>
          </p:txBody>
        </p:sp>
      </p:grpSp>
      <p:grpSp>
        <p:nvGrpSpPr>
          <p:cNvPr name="Group 51" id="51"/>
          <p:cNvGrpSpPr/>
          <p:nvPr/>
        </p:nvGrpSpPr>
        <p:grpSpPr>
          <a:xfrm rot="0">
            <a:off x="8770242" y="7518319"/>
            <a:ext cx="3072998" cy="1483959"/>
            <a:chOff x="0" y="0"/>
            <a:chExt cx="4097330" cy="1978612"/>
          </a:xfrm>
        </p:grpSpPr>
        <p:sp>
          <p:nvSpPr>
            <p:cNvPr name="TextBox 52" id="52"/>
            <p:cNvSpPr txBox="true"/>
            <p:nvPr/>
          </p:nvSpPr>
          <p:spPr>
            <a:xfrm rot="0">
              <a:off x="0" y="-57150"/>
              <a:ext cx="4097330" cy="53462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359"/>
                </a:lnSpc>
              </a:pPr>
              <a:r>
                <a:rPr lang="en-US" sz="2400" b="true">
                  <a:solidFill>
                    <a:srgbClr val="151857"/>
                  </a:solidFill>
                  <a:latin typeface="Liberation Sans Bold"/>
                  <a:ea typeface="Liberation Sans Bold"/>
                  <a:cs typeface="Liberation Sans Bold"/>
                  <a:sym typeface="Liberation Sans Bold"/>
                </a:rPr>
                <a:t>Tests</a:t>
              </a:r>
            </a:p>
          </p:txBody>
        </p:sp>
        <p:sp>
          <p:nvSpPr>
            <p:cNvPr name="TextBox 53" id="53"/>
            <p:cNvSpPr txBox="true"/>
            <p:nvPr/>
          </p:nvSpPr>
          <p:spPr>
            <a:xfrm rot="0">
              <a:off x="0" y="725122"/>
              <a:ext cx="4097330" cy="125349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520"/>
                </a:lnSpc>
              </a:pPr>
              <a:r>
                <a:rPr lang="en-US" sz="1800">
                  <a:solidFill>
                    <a:srgbClr val="FFFFFF"/>
                  </a:solidFill>
                  <a:latin typeface="Liberation Sans"/>
                  <a:ea typeface="Liberation Sans"/>
                  <a:cs typeface="Liberation Sans"/>
                  <a:sym typeface="Liberation Sans"/>
                </a:rPr>
                <a:t>Tests avec des utilisateurs dans un aéroport simulé (résidence ECC)</a:t>
              </a:r>
            </a:p>
          </p:txBody>
        </p:sp>
      </p:grpSp>
      <p:grpSp>
        <p:nvGrpSpPr>
          <p:cNvPr name="Group 54" id="54"/>
          <p:cNvGrpSpPr/>
          <p:nvPr/>
        </p:nvGrpSpPr>
        <p:grpSpPr>
          <a:xfrm rot="0">
            <a:off x="10869102" y="2294498"/>
            <a:ext cx="3604598" cy="1169634"/>
            <a:chOff x="0" y="0"/>
            <a:chExt cx="4806131" cy="1559512"/>
          </a:xfrm>
        </p:grpSpPr>
        <p:sp>
          <p:nvSpPr>
            <p:cNvPr name="TextBox 55" id="55"/>
            <p:cNvSpPr txBox="true"/>
            <p:nvPr/>
          </p:nvSpPr>
          <p:spPr>
            <a:xfrm rot="0">
              <a:off x="0" y="-57150"/>
              <a:ext cx="4806131" cy="53462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359"/>
                </a:lnSpc>
              </a:pPr>
              <a:r>
                <a:rPr lang="en-US" sz="2400" b="true">
                  <a:solidFill>
                    <a:srgbClr val="151857"/>
                  </a:solidFill>
                  <a:latin typeface="Liberation Sans Bold"/>
                  <a:ea typeface="Liberation Sans Bold"/>
                  <a:cs typeface="Liberation Sans Bold"/>
                  <a:sym typeface="Liberation Sans Bold"/>
                </a:rPr>
                <a:t> Lancement pilote</a:t>
              </a:r>
            </a:p>
          </p:txBody>
        </p:sp>
        <p:sp>
          <p:nvSpPr>
            <p:cNvPr name="TextBox 56" id="56"/>
            <p:cNvSpPr txBox="true"/>
            <p:nvPr/>
          </p:nvSpPr>
          <p:spPr>
            <a:xfrm rot="0">
              <a:off x="0" y="725122"/>
              <a:ext cx="4806131" cy="83439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520"/>
                </a:lnSpc>
              </a:pPr>
              <a:r>
                <a:rPr lang="en-US" sz="1800">
                  <a:solidFill>
                    <a:srgbClr val="FFFFFF"/>
                  </a:solidFill>
                  <a:latin typeface="Liberation Sans"/>
                  <a:ea typeface="Liberation Sans"/>
                  <a:cs typeface="Liberation Sans"/>
                  <a:sym typeface="Liberation Sans"/>
                </a:rPr>
                <a:t>Mise en place dans un aéroport marocain pour évaluation</a:t>
              </a:r>
            </a:p>
          </p:txBody>
        </p:sp>
      </p:grpSp>
      <p:grpSp>
        <p:nvGrpSpPr>
          <p:cNvPr name="Group 57" id="57"/>
          <p:cNvGrpSpPr/>
          <p:nvPr/>
        </p:nvGrpSpPr>
        <p:grpSpPr>
          <a:xfrm rot="0">
            <a:off x="13138322" y="7518319"/>
            <a:ext cx="4120978" cy="1589744"/>
            <a:chOff x="0" y="0"/>
            <a:chExt cx="5494638" cy="2119658"/>
          </a:xfrm>
        </p:grpSpPr>
        <p:sp>
          <p:nvSpPr>
            <p:cNvPr name="TextBox 58" id="58"/>
            <p:cNvSpPr txBox="true"/>
            <p:nvPr/>
          </p:nvSpPr>
          <p:spPr>
            <a:xfrm rot="0">
              <a:off x="800929" y="-57150"/>
              <a:ext cx="3892780" cy="109337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359"/>
                </a:lnSpc>
              </a:pPr>
              <a:r>
                <a:rPr lang="en-US" sz="2400" b="true">
                  <a:solidFill>
                    <a:srgbClr val="151857"/>
                  </a:solidFill>
                  <a:latin typeface="Liberation Sans Bold"/>
                  <a:ea typeface="Liberation Sans Bold"/>
                  <a:cs typeface="Liberation Sans Bold"/>
                  <a:sym typeface="Liberation Sans Bold"/>
                </a:rPr>
                <a:t>Amélioration &amp; extension</a:t>
              </a:r>
            </a:p>
          </p:txBody>
        </p:sp>
        <p:sp>
          <p:nvSpPr>
            <p:cNvPr name="TextBox 59" id="59"/>
            <p:cNvSpPr txBox="true"/>
            <p:nvPr/>
          </p:nvSpPr>
          <p:spPr>
            <a:xfrm rot="0">
              <a:off x="0" y="1285268"/>
              <a:ext cx="5494638" cy="83439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520"/>
                </a:lnSpc>
              </a:pPr>
              <a:r>
                <a:rPr lang="en-US" sz="1800">
                  <a:solidFill>
                    <a:srgbClr val="FAFAFA"/>
                  </a:solidFill>
                  <a:latin typeface="Liberation Sans"/>
                  <a:ea typeface="Liberation Sans"/>
                  <a:cs typeface="Liberation Sans"/>
                  <a:sym typeface="Liberation Sans"/>
                </a:rPr>
                <a:t>Ajout de nouvelles fonctions (notifications, suivi en temps réel, etc.)</a:t>
              </a:r>
            </a:p>
          </p:txBody>
        </p:sp>
      </p:grpSp>
      <p:sp>
        <p:nvSpPr>
          <p:cNvPr name="Freeform 60" id="60"/>
          <p:cNvSpPr/>
          <p:nvPr/>
        </p:nvSpPr>
        <p:spPr>
          <a:xfrm flipH="false" flipV="false" rot="0">
            <a:off x="17259300" y="9168001"/>
            <a:ext cx="802255" cy="486033"/>
          </a:xfrm>
          <a:custGeom>
            <a:avLst/>
            <a:gdLst/>
            <a:ahLst/>
            <a:cxnLst/>
            <a:rect r="r" b="b" t="t" l="l"/>
            <a:pathLst>
              <a:path h="486033" w="802255">
                <a:moveTo>
                  <a:pt x="0" y="0"/>
                </a:moveTo>
                <a:lnTo>
                  <a:pt x="802255" y="0"/>
                </a:lnTo>
                <a:lnTo>
                  <a:pt x="802255" y="486033"/>
                </a:lnTo>
                <a:lnTo>
                  <a:pt x="0" y="486033"/>
                </a:lnTo>
                <a:lnTo>
                  <a:pt x="0" y="0"/>
                </a:lnTo>
                <a:close/>
              </a:path>
            </a:pathLst>
          </a:custGeom>
          <a:blipFill>
            <a:blip r:embed="rId32">
              <a:extLst>
                <a:ext uri="{96DAC541-7B7A-43D3-8B79-37D633B846F1}">
                  <asvg:svgBlip xmlns:asvg="http://schemas.microsoft.com/office/drawing/2016/SVG/main" r:embed="rId3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1" id="61"/>
          <p:cNvSpPr/>
          <p:nvPr/>
        </p:nvSpPr>
        <p:spPr>
          <a:xfrm flipH="false" flipV="false" rot="0">
            <a:off x="16194577" y="0"/>
            <a:ext cx="1794986" cy="1794986"/>
          </a:xfrm>
          <a:custGeom>
            <a:avLst/>
            <a:gdLst/>
            <a:ahLst/>
            <a:cxnLst/>
            <a:rect r="r" b="b" t="t" l="l"/>
            <a:pathLst>
              <a:path h="1794986" w="1794986">
                <a:moveTo>
                  <a:pt x="0" y="0"/>
                </a:moveTo>
                <a:lnTo>
                  <a:pt x="1794986" y="0"/>
                </a:lnTo>
                <a:lnTo>
                  <a:pt x="1794986" y="1794986"/>
                </a:lnTo>
                <a:lnTo>
                  <a:pt x="0" y="1794986"/>
                </a:lnTo>
                <a:lnTo>
                  <a:pt x="0" y="0"/>
                </a:lnTo>
                <a:close/>
              </a:path>
            </a:pathLst>
          </a:custGeom>
          <a:blipFill>
            <a:blip r:embed="rId34"/>
            <a:stretch>
              <a:fillRect l="0" t="0" r="0" b="0"/>
            </a:stretch>
          </a:blipFill>
        </p:spPr>
      </p:sp>
      <p:sp>
        <p:nvSpPr>
          <p:cNvPr name="Freeform 62" id="62"/>
          <p:cNvSpPr/>
          <p:nvPr/>
        </p:nvSpPr>
        <p:spPr>
          <a:xfrm flipH="false" flipV="false" rot="0">
            <a:off x="15569568" y="4706448"/>
            <a:ext cx="3547326" cy="4947587"/>
          </a:xfrm>
          <a:custGeom>
            <a:avLst/>
            <a:gdLst/>
            <a:ahLst/>
            <a:cxnLst/>
            <a:rect r="r" b="b" t="t" l="l"/>
            <a:pathLst>
              <a:path h="4947587" w="3547326">
                <a:moveTo>
                  <a:pt x="0" y="0"/>
                </a:moveTo>
                <a:lnTo>
                  <a:pt x="3547326" y="0"/>
                </a:lnTo>
                <a:lnTo>
                  <a:pt x="3547326" y="4947586"/>
                </a:lnTo>
                <a:lnTo>
                  <a:pt x="0" y="4947586"/>
                </a:lnTo>
                <a:lnTo>
                  <a:pt x="0" y="0"/>
                </a:lnTo>
                <a:close/>
              </a:path>
            </a:pathLst>
          </a:custGeom>
          <a:blipFill>
            <a:blip r:embed="rId35"/>
            <a:stretch>
              <a:fillRect l="0" t="0" r="0" b="0"/>
            </a:stretch>
          </a:blipFill>
        </p:spPr>
      </p:sp>
      <p:sp>
        <p:nvSpPr>
          <p:cNvPr name="Freeform 63" id="63"/>
          <p:cNvSpPr/>
          <p:nvPr/>
        </p:nvSpPr>
        <p:spPr>
          <a:xfrm flipH="false" flipV="false" rot="0">
            <a:off x="14192118" y="9108062"/>
            <a:ext cx="4455202" cy="1976996"/>
          </a:xfrm>
          <a:custGeom>
            <a:avLst/>
            <a:gdLst/>
            <a:ahLst/>
            <a:cxnLst/>
            <a:rect r="r" b="b" t="t" l="l"/>
            <a:pathLst>
              <a:path h="1976996" w="4455202">
                <a:moveTo>
                  <a:pt x="0" y="0"/>
                </a:moveTo>
                <a:lnTo>
                  <a:pt x="4455202" y="0"/>
                </a:lnTo>
                <a:lnTo>
                  <a:pt x="4455202" y="1976996"/>
                </a:lnTo>
                <a:lnTo>
                  <a:pt x="0" y="1976996"/>
                </a:lnTo>
                <a:lnTo>
                  <a:pt x="0" y="0"/>
                </a:lnTo>
                <a:close/>
              </a:path>
            </a:pathLst>
          </a:custGeom>
          <a:blipFill>
            <a:blip r:embed="rId36">
              <a:extLst>
                <a:ext uri="{96DAC541-7B7A-43D3-8B79-37D633B846F1}">
                  <asvg:svgBlip xmlns:asvg="http://schemas.microsoft.com/office/drawing/2016/SVG/main" r:embed="rId3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4" id="64"/>
          <p:cNvSpPr txBox="true"/>
          <p:nvPr/>
        </p:nvSpPr>
        <p:spPr>
          <a:xfrm rot="0">
            <a:off x="16827374" y="9099446"/>
            <a:ext cx="1437477" cy="8952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355"/>
              </a:lnSpc>
              <a:spcBef>
                <a:spcPct val="0"/>
              </a:spcBef>
            </a:pPr>
            <a:r>
              <a:rPr lang="en-US" b="true" sz="5253" spc="147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DAG2byRqrSA</dc:identifier>
  <dcterms:modified xsi:type="dcterms:W3CDTF">2011-08-01T06:04:30Z</dcterms:modified>
  <cp:revision>1</cp:revision>
  <dc:title>RAMNav</dc:title>
</cp:coreProperties>
</file>